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25.xml"/><Relationship Id="rId15" Type="http://schemas.openxmlformats.org/officeDocument/2006/relationships/slide" Target="slides/slide26.xml"/><Relationship Id="rId16" Type="http://schemas.openxmlformats.org/officeDocument/2006/relationships/slide" Target="slides/slide27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SaaS ARR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H2 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420</c:v>
                </c:pt>
                <c:pt idx="2">
                  <c:v>1800</c:v>
                </c:pt>
                <c:pt idx="3">
                  <c:v>5400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Provisionen</c:v>
                </c:pt>
              </c:strCache>
            </c:strRef>
          </c:tx>
          <c:spPr>
            <a:solidFill>
              <a:srgbClr val="E11D4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H2 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</c:v>
                </c:pt>
                <c:pt idx="1">
                  <c:v>180</c:v>
                </c:pt>
                <c:pt idx="2">
                  <c:v>900</c:v>
                </c:pt>
                <c:pt idx="3">
                  <c:v>3200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hyperlink" Target="https://chairmatch.d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hyperlink" Target="https://chairmatch.de" TargetMode="External"/><Relationship Id="rId3" Type="http://schemas.openxmlformats.org/officeDocument/2006/relationships/image" Target="../media/image-15-2.png"/><Relationship Id="rId4" Type="http://schemas.openxmlformats.org/officeDocument/2006/relationships/image" Target="../media/image-1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371600" y="3200400"/>
            <a:ext cx="2743200" cy="2743200"/>
          </a:xfrm>
          <a:prstGeom prst="ellipse">
            <a:avLst/>
          </a:prstGeom>
          <a:solidFill>
            <a:srgbClr val="E11D48">
              <a:alpha val="10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ChairMatch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Booking.com + Airbnb + LinkedIn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die Beauty-Branche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Infrastrukturplattform für Beauty &amp; Medical Beauty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749040"/>
            <a:ext cx="22860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Yusuf Ferhat Demir  |  Gründer &amp; CEO  |  Frankfurt am Main</a:t>
            </a:r>
            <a:endParaRPr lang="en-US" sz="13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731520" y="4297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u="sng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chairmatch.de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27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250-Milliarden-Dollar-Branche arbeitet noch wie vor 20 Jahren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7863840" cy="749808"/>
          </a:xfrm>
          <a:prstGeom prst="roundRect">
            <a:avLst>
              <a:gd name="adj" fmla="val 9756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09344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5361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Manuelle Prozesse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71600" y="1828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 der Salons verwalten Termine über WhatsApp, Telefon oder Papierkalender. Keine Automatisierung, keine Skalierung.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132320" y="1508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132320" y="19019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manuelle Buchung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0080" y="2331720"/>
            <a:ext cx="7863840" cy="749808"/>
          </a:xfrm>
          <a:prstGeom prst="roundRect">
            <a:avLst>
              <a:gd name="adj" fmla="val 9756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78024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4048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Fragmentierter Markt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371600" y="2697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Freelancer, Salonbesitzer und Raumvermieter nutzen jeweils eigene Tools. Kein einheitliches Ökosystem.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7132320" y="23774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7132320" y="27706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parallel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40080" y="3200400"/>
            <a:ext cx="7863840" cy="749808"/>
          </a:xfrm>
          <a:prstGeom prst="roundRect">
            <a:avLst>
              <a:gd name="adj" fmla="val 9756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46704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32735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Verlorene Umsätze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371600" y="3566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Leere Stühle, nicht vermietete Räume, verpasste Kunden. Branchenschätzung: 30% Umsatzverlust durch Ineffizienz.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7132320" y="32461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7132320" y="36393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Umsatzverlust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640080" y="4069080"/>
            <a:ext cx="7863840" cy="749808"/>
          </a:xfrm>
          <a:prstGeom prst="roundRect">
            <a:avLst>
              <a:gd name="adj" fmla="val 9756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215384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71600" y="41422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Zugang zu Medical Beauty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371600" y="4434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Ärzte und Kliniken finden keine zertifizierten Räume. Freelancer haben keine professionelle Infrastruktur.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132320" y="4114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€15 Mrd.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7132320" y="45079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Beauty DE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Lösung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Plattform. Vier Märkte. Ein Ökosystem.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0" y="1463040"/>
            <a:ext cx="4572000" cy="109728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28600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ChairMatch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28600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Digitale Infrastruktur für Beauty &amp; Medical Beauty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1554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Kunden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" y="2148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223760" y="155448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223760" y="1554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Salonbesitzer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23760" y="214884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223760" y="2148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Vermieter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92608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3063240"/>
            <a:ext cx="457200" cy="4572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40080" y="3566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Buchen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0080" y="3886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Online-Termine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Echtzeit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788920" y="292608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3063240"/>
            <a:ext cx="457200" cy="45720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788920" y="3566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Mieten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2788920" y="3886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Arbeitsplätze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Räume finden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937760" y="292608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3063240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937760" y="3566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Bezahlen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4937760" y="3886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Integrierte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Zahlungen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7086600" y="2926080"/>
            <a:ext cx="1920240" cy="164592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3063240"/>
            <a:ext cx="457200" cy="4572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086600" y="35661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Wachsen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7086600" y="3886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27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Marktgröße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Mehrere Milliardenmärkte konvergieren auf einer Plattform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71600" y="1371600"/>
            <a:ext cx="3474720" cy="3474720"/>
          </a:xfrm>
          <a:prstGeom prst="ellipse">
            <a:avLst/>
          </a:prstGeom>
          <a:solidFill>
            <a:srgbClr val="0D9488">
              <a:alpha val="15000"/>
            </a:srgbClr>
          </a:solidFill>
          <a:ln w="254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37160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7160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$234 Mrd.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194560" y="2286000"/>
            <a:ext cx="2377440" cy="2377440"/>
          </a:xfrm>
          <a:prstGeom prst="ellipse">
            <a:avLst/>
          </a:prstGeom>
          <a:solidFill>
            <a:srgbClr val="0D9488">
              <a:alpha val="30000"/>
            </a:srgbClr>
          </a:solidFill>
          <a:ln w="254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194560" y="2560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2788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 Mrd.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43200" y="3017520"/>
            <a:ext cx="1463040" cy="14630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743200" y="32004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3383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 Mrd.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03520" y="1508760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577840" y="1463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— Global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77840" y="1737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Globaler Beauty-Services-Markt (2025)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Wachstum: 7.4% CAGR bis 2035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303520" y="2514600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577840" y="24688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— Europa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77840" y="27432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Europäischer Beauty-Tech &amp; Booking-Markt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Workspace-Sharing ($7.2 Mrd.)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03520" y="3520440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577840" y="3474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— DACH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77840" y="3749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Deutschland Beauty-Dienstleistungen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Salon-Software + Raumvermietung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47091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Quellen: Fortune Business Insights, Statista, Mordor Intelligence (2025)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Produkt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Säulen. Ein nahtloses Ökosystem.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9436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0116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26517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Buchungen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" y="32918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Kunden buchen Behandlungen bei Salons und Freelancern. Echtzeit-Verfügbarkeit, Bewertungen, Bezahlung.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606040" y="141732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274320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201168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43200" y="26517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Arbeitsplatz-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vermietung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743200" y="32918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Freelancer mieten Stühle/Plätze in bestehenden Salons. Flexibel nach Stunde, Tag oder Monat.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754880" y="141732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489204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201168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92040" y="26517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Raum-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vermietung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892040" y="32918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Behandlungsräume für Ärzte, Kosmetiker und Therapeuten. Vollausgestattet, sofort nutzbar.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903720" y="141732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704088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201168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26517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Beauty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Infrastruktur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040880" y="32918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Spezialisierte Räume für ästhetische Medizin. Zertifiziert, compliant, mit Equipment.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ChairMatch?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uns von Treatwell, Fresha &amp; Co. unterscheidet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7863840" cy="621792"/>
          </a:xfrm>
          <a:prstGeom prst="roundRect">
            <a:avLst>
              <a:gd name="adj" fmla="val 11765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27048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47218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4-in-1 Plattform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417320" y="1728216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Buchung + Arbeitsplatz + Raum + Medical Beauty — kein Wettbewerber deckt alle vier Märkte ab.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0080" y="2130552"/>
            <a:ext cx="7863840" cy="621792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4028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1854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Infrastruktur statt Feature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417320" y="244144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sind nicht nur ein Booking-Tool. Wir sind das Betriebssystem der Branche: CRM, Payments, Analytics.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40080" y="2843784"/>
            <a:ext cx="7863840" cy="621792"/>
          </a:xfrm>
          <a:prstGeom prst="roundRect">
            <a:avLst>
              <a:gd name="adj" fmla="val 11765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953512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28986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Medical-Beauty-Ready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417320" y="315468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 einzige Plattform addressieren wir den stark wachsenden Medical-Beauty-Markt mit zertifizierten Räumen.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40080" y="3557016"/>
            <a:ext cx="7863840" cy="621792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666744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3611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Netzwerkeffekte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417320" y="386791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neue Salon bringt Freelancer, jeder Freelancer bringt Kunden. Selbstverstärkendes Wachstum.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640080" y="4270248"/>
            <a:ext cx="7863840" cy="621792"/>
          </a:xfrm>
          <a:prstGeom prst="roundRect">
            <a:avLst>
              <a:gd name="adj" fmla="val 11765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379976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17320" y="43251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DACH-First, Global-Ready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417320" y="458114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Lokaler Start mit tiefer Marktkenntnis. Plattform-Architektur für europaweite Skalierung gebaut.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27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Geschäftsmodell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Mehrere Revenue Streams für nachhaltiges Wachstum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49€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/Monat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423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Terminbuchung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Kundenverwaltung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Basis-Analytics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137160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2900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1737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149€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429000" y="2148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/Monat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03320" y="2423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aus Starter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Raumvermietung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Zahlungen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Marketing-Tools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21792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1737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499€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217920" y="2148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/Monat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92240" y="24231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aus Business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Multi-Standort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API-Zugang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Dedicated Support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657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Revenue Streams</a:t>
            </a:r>
            <a:endParaRPr lang="en-US" sz="13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096512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14400" y="4069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Provision auf Buchungen &amp; Vermietungen</a:t>
            </a:r>
            <a:endParaRPr lang="en-US" sz="105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398264"/>
            <a:ext cx="201168" cy="20116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914400" y="4370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Zahlungsabwicklung (Payment Processing Fee)</a:t>
            </a:r>
            <a:endParaRPr lang="en-US" sz="105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700016"/>
            <a:ext cx="201168" cy="20116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14400" y="4672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Premium-Platzierungen &amp; Werbung</a:t>
            </a:r>
            <a:endParaRPr lang="en-US" sz="105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4096512"/>
            <a:ext cx="201168" cy="20116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029200" y="4069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Schulungen &amp; Zertifizierungen</a:t>
            </a:r>
            <a:endParaRPr lang="en-US" sz="105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398264"/>
            <a:ext cx="201168" cy="20116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029200" y="4370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Versicherungen &amp; Partnerprogramme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27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Rhein-Main-Gebiet zur europäischen Plattform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50876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508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91640" y="1508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2026-2027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Frankfurt &amp; DACH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286000"/>
            <a:ext cx="2423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Frankfurt am Main</a:t>
            </a:r>
            <a:endParaRPr lang="en-US" sz="10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Direktvertrieb an Salons</a:t>
            </a:r>
            <a:endParaRPr lang="en-US" sz="10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Community-Building: Events &amp; Messen</a:t>
            </a:r>
            <a:endParaRPr lang="en-US" sz="10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Salons, 500 Freelancer</a:t>
            </a:r>
            <a:endParaRPr lang="en-US" sz="10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Product-Market-Fit validieren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37160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474720" y="150876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E11D48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474720" y="1508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0" y="1508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2027-2028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0" y="1920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Deutschland &amp; DACH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74720" y="2286000"/>
            <a:ext cx="2423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Expansion: Berlin, München, Hamburg</a:t>
            </a:r>
            <a:endParaRPr lang="en-US" sz="10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Partnerschaften mit Branchenverbänden</a:t>
            </a:r>
            <a:endParaRPr lang="en-US" sz="10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Beauty Vertical Launch</a:t>
            </a:r>
            <a:endParaRPr lang="en-US" sz="10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 Salons, 5.000 Freelancer</a:t>
            </a:r>
            <a:endParaRPr lang="en-US" sz="10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Channel-Partnerships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371600"/>
            <a:ext cx="2697480" cy="3383280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355080" y="150876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55080" y="1508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52360" y="1508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2029+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55080" y="1920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Europa &amp; Global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55080" y="2286000"/>
            <a:ext cx="2423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Expansion: NL, AT, CH, FR, UK</a:t>
            </a:r>
            <a:endParaRPr lang="en-US" sz="10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Enterprise-Ketten onboarden</a:t>
            </a:r>
            <a:endParaRPr lang="en-US" sz="10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Marketplace-Effekte nutzen</a:t>
            </a:r>
            <a:endParaRPr lang="en-US" sz="10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10.000+ Salons</a:t>
            </a:r>
            <a:endParaRPr lang="en-US" sz="10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Internationales Team aufbauen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Wettbewerbslandschaft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Niemand vereint alle vier Verticals auf einer Plattform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Buchungen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Stuhl-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vermietung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Raum-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vermietung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Beauty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Treatwell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Fresha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$285M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Booksy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$269M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$105M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$42M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ChairMatch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Pre-Seed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657600"/>
            <a:ext cx="8046720" cy="502920"/>
          </a:xfrm>
          <a:prstGeom prst="roundRect">
            <a:avLst>
              <a:gd name="adj" fmla="val 9091"/>
            </a:avLst>
          </a:prstGeom>
          <a:solidFill>
            <a:srgbClr val="CCFBF1">
              <a:alpha val="50000"/>
            </a:srgbClr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ChairMatch ist die einzige Plattform, die Buchungen, Stuhlvermietung, Raumvermietung und Medical Beauty in einem System vereint.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27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Meilensteine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wir bereits erreicht haben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7280" y="2468880"/>
            <a:ext cx="6949440" cy="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43000" y="233172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737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Plattform-Konzept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Marktanalyse, Business Plan,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Wettbewerbs-Recherche abgeschlossen</a:t>
            </a:r>
            <a:endParaRPr lang="en-US" sz="9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3474720"/>
            <a:ext cx="228600" cy="228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834640" y="233172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2331720" y="1737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331720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Live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331720" y="2788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chairmatch.de gelauncht,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&amp; Branding</a:t>
            </a:r>
            <a:endParaRPr lang="en-US" sz="9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3474720"/>
            <a:ext cx="228600" cy="2286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526280" y="2331720"/>
            <a:ext cx="274320" cy="274320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4023360" y="1737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023360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Entwicklung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023360" y="2788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Web-App in Entwicklung,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Buchungssystem, Nutzerverwaltung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217920" y="2331720"/>
            <a:ext cx="274320" cy="274320"/>
          </a:xfrm>
          <a:prstGeom prst="ellipse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5715000" y="1737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5715000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Beta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715000" y="2788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Erste Salons in Frankfurt,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Beta-Tester onboarden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7909560" y="2331720"/>
            <a:ext cx="274320" cy="274320"/>
          </a:xfrm>
          <a:prstGeom prst="ellipse">
            <a:avLst/>
          </a:prstGeom>
          <a:solidFill>
            <a:srgbClr val="E2E8F0"/>
          </a:solidFill>
          <a:ln/>
        </p:spPr>
        <p:txBody>
          <a:bodyPr/>
          <a:p/>
        </p:txBody>
      </p:sp>
      <p:sp>
        <p:nvSpPr>
          <p:cNvPr id="24" name="Text 20"/>
          <p:cNvSpPr/>
          <p:nvPr/>
        </p:nvSpPr>
        <p:spPr>
          <a:xfrm>
            <a:off x="7406640" y="1737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7406640" y="1965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Launch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7406640" y="27889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Öffentlicher Launch DACH,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Store &amp; Google Play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640080" y="3931920"/>
            <a:ext cx="7863840" cy="822960"/>
          </a:xfrm>
          <a:prstGeom prst="roundRect">
            <a:avLst>
              <a:gd name="adj" fmla="val 8889"/>
            </a:avLst>
          </a:prstGeom>
          <a:solidFill>
            <a:srgbClr val="F0FDFA"/>
          </a:solidFill>
          <a:ln/>
        </p:spPr>
        <p:txBody>
          <a:bodyPr/>
          <a:p/>
        </p:txBody>
      </p:sp>
      <p:sp>
        <p:nvSpPr>
          <p:cNvPr id="28" name="Text 24"/>
          <p:cNvSpPr/>
          <p:nvPr/>
        </p:nvSpPr>
        <p:spPr>
          <a:xfrm>
            <a:off x="914400" y="3977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9" name="Text 25"/>
          <p:cNvSpPr/>
          <p:nvPr/>
        </p:nvSpPr>
        <p:spPr>
          <a:xfrm>
            <a:off x="914400" y="43708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Live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2880360" y="3977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7"/>
          <p:cNvSpPr/>
          <p:nvPr/>
        </p:nvSpPr>
        <p:spPr>
          <a:xfrm>
            <a:off x="2880360" y="43708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Märkte identifiziert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4846320" y="3977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3" name="Text 29"/>
          <p:cNvSpPr/>
          <p:nvPr/>
        </p:nvSpPr>
        <p:spPr>
          <a:xfrm>
            <a:off x="4846320" y="43708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Abo-Modelle definiert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6812280" y="3977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2200" dirty="0"/>
          </a:p>
        </p:txBody>
      </p:sp>
      <p:sp>
        <p:nvSpPr>
          <p:cNvPr id="35" name="Text 31"/>
          <p:cNvSpPr/>
          <p:nvPr/>
        </p:nvSpPr>
        <p:spPr>
          <a:xfrm>
            <a:off x="6812280" y="437083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Entwicklung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Finanzprognose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3-Jahres-Projektion (konservatives Szenario)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76072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€5.4M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760720" y="16276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Jahr 3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760720" y="178308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SaaS-Abonnements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76072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€8.6M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760720" y="22219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Gesamtumsatz Y3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760720" y="23774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+ Provisionen + Services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760720" y="2560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2.500+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760720" y="28163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Aktive Salons Y3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760720" y="29718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DACH-Region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76072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10.000+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760720" y="34107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 Y3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760720" y="35661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 der Plattform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76072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2028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760720" y="40050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760720" y="4160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konservativer Planung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40080" y="4572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Annahmen: 30% MoM Wachstum Y1, 15% MoM Y2, 8% MoM Y3. Churn &lt;5%. ARPU steigt durch Upselling.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Team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27432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828800" y="1554480"/>
            <a:ext cx="1645920" cy="1645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828800" y="155448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840480" y="1554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Yusuf Ferhat Demir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84048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Gründer &amp; CEO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0" y="23774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Unternehmer aus Frankfurt am Main mit tiefer Branchenkenntnis und Leidenschaft für die Digitalisierung der Beauty-Industrie.</a:t>
            </a:r>
            <a:endParaRPr lang="en-US" sz="11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Kombiniert technisches Verständnis mit einem klaren Blick für Marktchancen.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Vision: Eine Welt, in der jeder Beauty-Professional die digitale Infrastruktur hat, um erfolgreich zu sein.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0" y="4114800"/>
            <a:ext cx="6400800" cy="502920"/>
          </a:xfrm>
          <a:prstGeom prst="roundRect">
            <a:avLst>
              <a:gd name="adj" fmla="val 14545"/>
            </a:avLst>
          </a:prstGeom>
          <a:solidFill>
            <a:srgbClr val="F0FDFA"/>
          </a:solidFill>
          <a:ln/>
        </p:spPr>
        <p:txBody>
          <a:bodyPr/>
          <a:p/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4187952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011680" y="41148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Schlüsselpositionen offen: CTO, Head of Sales, Head of Product — Finanzierung ermöglicht Top-Hiring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6583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1E293B"/>
                </a:solidFill>
                <a:latin typeface="Calibri"/>
              </a:rPr>
              <a:t>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704088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So nutzen Professionals ChairMatch im Alltag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3749039" cy="137160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3383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Friseurin mietet Stuhl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3383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Lisa, Freelance-Stylistin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3383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Bucht einen Stuhl in einem Premium-Salon für 3 Tage/Woche. Kein eigener Laden nötig – ChairMatch regelt Buchung, Vertrag &amp; Zahlung.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051560"/>
            <a:ext cx="3749039" cy="13716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143000"/>
            <a:ext cx="3383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Kosmetikerin bucht Raum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371600"/>
            <a:ext cx="3383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Sarah, Beauty-Unternehmerin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600200"/>
            <a:ext cx="3383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Mietet einen voll ausgestatteten Treatment-Raum stundenweise. Flexible Kosten, professionelles Ambiente, keine Fixkosten.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06039"/>
            <a:ext cx="3749039" cy="137160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79"/>
            <a:ext cx="3383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Kunde bucht Termin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26079"/>
            <a:ext cx="3383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Max, Endkunde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54679"/>
            <a:ext cx="3383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Findet über die Plattform eine zertifizierte Kosmetikerin in seiner Nähe. Bucht direkt online, zahlt digital, bewertet danach.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2606039"/>
            <a:ext cx="3749039" cy="13716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697479"/>
            <a:ext cx="33832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E293B"/>
                </a:solidFill>
                <a:latin typeface="Calibri"/>
              </a:rPr>
              <a:t>Vermieter listet Studio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926079"/>
            <a:ext cx="33832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Petra, Salonbesitzerin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154679"/>
            <a:ext cx="338328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Vermietet 2 ungenutzte Stühle in ihrem Salon über ChairMatch. Passive Einnahmen aus Leerstand, automatische Abrechnung.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3410712"/>
            <a:ext cx="658368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6583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1E293B"/>
                </a:solidFill>
                <a:latin typeface="Calibri"/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704088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Attraktive Einheitsökonomie mit starkem LTV/CAC-Verhältnis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3931920" cy="640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E293B"/>
                </a:solidFill>
                <a:latin typeface="Calibri"/>
              </a:rPr>
              <a:t>EUR 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097280"/>
            <a:ext cx="2286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E293B"/>
                </a:solidFill>
                <a:latin typeface="Calibri"/>
              </a:rPr>
              <a:t>Customer Acquisition Cost (CAC)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34416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Google Ads + Referral-Programm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3931920" cy="640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E293B"/>
                </a:solidFill>
                <a:latin typeface="Calibri"/>
              </a:rPr>
              <a:t>EUR 2.160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74519"/>
            <a:ext cx="2286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E293B"/>
                </a:solidFill>
                <a:latin typeface="Calibri"/>
              </a:rPr>
              <a:t>Lifetime Value (LTV)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121408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Durchschnitt 36 Monate x EUR 60 ARPU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06039"/>
            <a:ext cx="3931920" cy="6400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51759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0D9488"/>
                </a:solidFill>
                <a:latin typeface="Calibri"/>
              </a:rPr>
              <a:t>48:1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651759"/>
            <a:ext cx="2286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E293B"/>
                </a:solidFill>
                <a:latin typeface="Calibri"/>
              </a:rPr>
              <a:t>LTV / CAC Ratio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898647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Branchendurchschnitt: 3:1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383279"/>
            <a:ext cx="3931920" cy="6400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28999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E293B"/>
                </a:solidFill>
                <a:latin typeface="Calibri"/>
              </a:rPr>
              <a:t>&lt; 1 Monat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428999"/>
            <a:ext cx="2286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E293B"/>
                </a:solidFill>
                <a:latin typeface="Calibri"/>
              </a:rPr>
              <a:t>Payback Period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675887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Break-even ab 1. Monatszahlung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10515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Revenue pro Kunde / Jahr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1417320"/>
            <a:ext cx="3657600" cy="32004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1444752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SaaS-Abo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1444752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1">
                <a:solidFill>
                  <a:srgbClr val="0D9488"/>
                </a:solidFill>
                <a:latin typeface="Calibri"/>
              </a:rPr>
              <a:t>EUR 588 – EUR 5.988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0" y="1828800"/>
            <a:ext cx="3657600" cy="32004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1856231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Buchungsprovision (10%)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1856231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1">
                <a:solidFill>
                  <a:srgbClr val="0D9488"/>
                </a:solidFill>
                <a:latin typeface="Calibri"/>
              </a:rPr>
              <a:t>EUR 120 – EUR 480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0" y="2240280"/>
            <a:ext cx="3657600" cy="32004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2267712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Payment Processing (2.9%)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267712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1">
                <a:solidFill>
                  <a:srgbClr val="0D9488"/>
                </a:solidFill>
                <a:latin typeface="Calibri"/>
              </a:rPr>
              <a:t>EUR 35 – EUR 140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0" y="2651760"/>
            <a:ext cx="3657600" cy="32004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92040" y="2679192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Premium Listings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2679192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1">
                <a:solidFill>
                  <a:srgbClr val="0D9488"/>
                </a:solidFill>
                <a:latin typeface="Calibri"/>
              </a:rPr>
              <a:t>EUR 50 – EUR 200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324612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Zielmargen (Jahr 3)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3566160"/>
            <a:ext cx="2286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Bruttomarge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566160"/>
            <a:ext cx="1371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300" b="1">
                <a:solidFill>
                  <a:srgbClr val="0D9488"/>
                </a:solidFill>
                <a:latin typeface="Calibri"/>
              </a:rPr>
              <a:t>85%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3886200"/>
            <a:ext cx="2286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EBITDA-Marge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3886200"/>
            <a:ext cx="1371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300" b="1">
                <a:solidFill>
                  <a:srgbClr val="0D9488"/>
                </a:solidFill>
                <a:latin typeface="Calibri"/>
              </a:rPr>
              <a:t>25%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4206240"/>
            <a:ext cx="2286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Net Revenue Retention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206240"/>
            <a:ext cx="1371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300" b="1">
                <a:solidFill>
                  <a:srgbClr val="0D9488"/>
                </a:solidFill>
                <a:latin typeface="Calibri"/>
              </a:rPr>
              <a:t>120%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23760" y="3410712"/>
            <a:ext cx="658368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6583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1E293B"/>
                </a:solidFill>
                <a:latin typeface="Calibri"/>
              </a:rPr>
              <a:t>Exit-Strategie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704088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Mehrere attraktive Exit-Optionen ab Jahr 4-5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3657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E293B"/>
                </a:solidFill>
                <a:latin typeface="Calibri"/>
              </a:rPr>
              <a:t>Potenzielle Acquirer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4389120" cy="54864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90472"/>
            <a:ext cx="2286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Treatwell / Fresha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490472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0D9488"/>
                </a:solidFill>
                <a:latin typeface="Calibri"/>
              </a:rPr>
              <a:t>Beauty-Booking-Plattformen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19072"/>
            <a:ext cx="4023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Horizontale Expansion in Workspace-Sharing &amp; B2B SaaS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4389120" cy="5486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2286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Mindbody / Vagaro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148840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0D9488"/>
                </a:solidFill>
                <a:latin typeface="Calibri"/>
              </a:rPr>
              <a:t>Wellness-Management-Software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77440"/>
            <a:ext cx="4023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Europäische Markterschließung über ChairMatch-Nutzerbasis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779776"/>
            <a:ext cx="4389120" cy="54864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807208"/>
            <a:ext cx="2286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L'Oreal / Henkel / Coty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807208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0D9488"/>
                </a:solidFill>
                <a:latin typeface="Calibri"/>
              </a:rPr>
              <a:t>Beauty-Konzerne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035808"/>
            <a:ext cx="4023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Direkter Zugang zu 100.000+ Beauty-Professionals (B2B Distribution)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438144"/>
            <a:ext cx="4389120" cy="5486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465576"/>
            <a:ext cx="2286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WeWork / IWG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465576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0D9488"/>
                </a:solidFill>
                <a:latin typeface="Calibri"/>
              </a:rPr>
              <a:t>Workspace-Plattformen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694176"/>
            <a:ext cx="402336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Vertikale Expansion in spezialisierte Branchen-Workspaces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105156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E293B"/>
                </a:solidFill>
                <a:latin typeface="Calibri"/>
              </a:rPr>
              <a:t>Exit-Szenarien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12080" y="1463040"/>
            <a:ext cx="3200400" cy="7772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0" y="1508760"/>
            <a:ext cx="28346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Base Case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173736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8-12x ARR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1737360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400" b="1">
                <a:solidFill>
                  <a:srgbClr val="0D9488"/>
                </a:solidFill>
                <a:latin typeface="Calibri"/>
              </a:rPr>
              <a:t>EUR 24M – EUR 36M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1965960"/>
            <a:ext cx="28346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bei EUR 3M ARR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12080" y="2377440"/>
            <a:ext cx="3200400" cy="77724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60" y="2423160"/>
            <a:ext cx="28346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Upside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265176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15-20x ARR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651760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400" b="1">
                <a:solidFill>
                  <a:srgbClr val="0D9488"/>
                </a:solidFill>
                <a:latin typeface="Calibri"/>
              </a:rPr>
              <a:t>EUR 75M – EUR 100M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2880360"/>
            <a:ext cx="28346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bei EUR 5M ARR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12080" y="3291840"/>
            <a:ext cx="3200400" cy="7772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94960" y="3337560"/>
            <a:ext cx="28346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Strategic Premium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0" y="3566160"/>
            <a:ext cx="1371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25x+ ARR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3566160"/>
            <a:ext cx="14630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400" b="1">
                <a:solidFill>
                  <a:srgbClr val="0D9488"/>
                </a:solidFill>
                <a:latin typeface="Calibri"/>
              </a:rPr>
              <a:t>EUR 125M+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3794760"/>
            <a:ext cx="28346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bei strategischem Buyer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4206240"/>
            <a:ext cx="32004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Vergleichbare Exits: Treatwell (EUR 220M, 2015), Fresha ($100M+ Bewertung)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3410712"/>
            <a:ext cx="658368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0" y="-914400"/>
            <a:ext cx="2560320" cy="25603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2560320"/>
            <a:ext cx="2011680" cy="2011680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Zwei Firmen. Eine Vision.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6400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CCFBF1"/>
                </a:solidFill>
                <a:latin typeface="Calibri"/>
              </a:rPr>
              <a:t>Das Portfolio von Yusuf Ferhat Demir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474720" cy="2011680"/>
          </a:xfrm>
          <a:prstGeom prst="roundRect">
            <a:avLst/>
          </a:prstGeom>
          <a:solidFill>
            <a:srgbClr val="0F4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ChairMatch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3108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CCFBF1"/>
                </a:solidFill>
                <a:latin typeface="Calibri"/>
              </a:rPr>
              <a:t>Beauty-Infrastruktur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310896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CCFBF1"/>
                </a:solidFill>
                <a:latin typeface="Calibri"/>
              </a:rPr>
              <a:t>Die Plattform für Beauty-Professionals: Buchung, Raumvermietung, Kundenverwaltung – SaaS + Marktplatz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2011680"/>
            <a:ext cx="3474720" cy="2011680"/>
          </a:xfrm>
          <a:prstGeom prst="roundRect">
            <a:avLst/>
          </a:prstGeom>
          <a:solidFill>
            <a:srgbClr val="6D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148840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Alltagsengel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514600"/>
            <a:ext cx="3108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DA4AF"/>
                </a:solidFill>
                <a:latin typeface="Calibri"/>
              </a:rPr>
              <a:t>Seniorenbetreuung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788920"/>
            <a:ext cx="310896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FFCCD5"/>
                </a:solidFill>
                <a:latin typeface="Calibri"/>
              </a:rPr>
              <a:t>Alltagsbegleitung für Senioren in Frankfurt: Einkaufen, Arztbegleitung, Behördengänge – finanziert über Entlastungsbetrag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06240"/>
            <a:ext cx="7315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0">
                <a:solidFill>
                  <a:srgbClr val="94A3B8"/>
                </a:solidFill>
                <a:latin typeface="Calibri"/>
              </a:rPr>
              <a:t>Tech + Care = Diversifizierte Plattform-Holding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3410712"/>
            <a:ext cx="658368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6583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1E293B"/>
                </a:solidFill>
                <a:latin typeface="Calibri"/>
              </a:rPr>
              <a:t>Alltagsengel – Überblick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704088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Alltagsbegleitungsdienst für Senioren in Frankfurt am 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E293B"/>
                </a:solidFill>
                <a:latin typeface="Calibri"/>
              </a:rPr>
              <a:t>Was ist Alltagsengel?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0292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64748B"/>
                </a:solidFill>
                <a:latin typeface="Calibri"/>
              </a:rPr>
              <a:t>Alltagsengel ist ein nach §45a SGB XI anerkannter Alltagsbegleitungsdienst. Wir unterstützen Senioren bei alltäglichen Aufgaben – nicht Pflege, sondern Begleitung, die Selbstständigkeit erhält und Angehörige entlastet.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E293B"/>
                </a:solidFill>
                <a:latin typeface="Calibri"/>
              </a:rPr>
              <a:t>Einkaufsbegleitung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2377440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Gemeinsam einkaufen oder Besorgungen erledigen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E293B"/>
                </a:solidFill>
                <a:latin typeface="Calibri"/>
              </a:rPr>
              <a:t>Arztbegleitung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788920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Sicherer Transport und Begleitung zu Arztterminen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E293B"/>
                </a:solidFill>
                <a:latin typeface="Calibri"/>
              </a:rPr>
              <a:t>Behördengänge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3200400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Unterstützung bei Anträgen und Amtsbesuchen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8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E293B"/>
                </a:solidFill>
                <a:latin typeface="Calibri"/>
              </a:rPr>
              <a:t>Gesellschaft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3611880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Gespräche, Spaziergänge, soziale Teilhabe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E293B"/>
                </a:solidFill>
                <a:latin typeface="Calibri"/>
              </a:rPr>
              <a:t>Haushaltsorganisation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4023360"/>
            <a:ext cx="32004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Hilfe beim Ordnung halten und Alltagsstruktur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1097280"/>
            <a:ext cx="2743200" cy="320040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1234440"/>
            <a:ext cx="2377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0D9488"/>
                </a:solidFill>
                <a:latin typeface="Calibri"/>
              </a:rPr>
              <a:t>§45a SGB XI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508760"/>
            <a:ext cx="237744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1E293B"/>
                </a:solidFill>
                <a:latin typeface="Calibri"/>
              </a:rPr>
              <a:t>Anerkannter Dienst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182880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Kunden nutzen den Entlastungsbetrag nach §45b SGB XI: 131 EUR/Monat (1.572 EUR/Jahr)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2468880"/>
            <a:ext cx="2377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0D9488"/>
                </a:solidFill>
                <a:latin typeface="Calibri"/>
              </a:rPr>
              <a:t>alltagsengel.care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926080"/>
            <a:ext cx="23774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Standort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315468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>
                <a:solidFill>
                  <a:srgbClr val="1E293B"/>
                </a:solidFill>
                <a:latin typeface="Calibri"/>
              </a:rPr>
              <a:t>Neue Mainzer Str. 66-68
60311 Frankfurt am Main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410712"/>
            <a:ext cx="658368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6583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1E293B"/>
                </a:solidFill>
                <a:latin typeface="Calibri"/>
              </a:rPr>
              <a:t>Das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704088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Millionen Pflegebedürftige ohne passende Alltagsunterstützung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1874519" cy="96012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87451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>
                <a:solidFill>
                  <a:srgbClr val="E11D48"/>
                </a:solidFill>
                <a:latin typeface="Calibri"/>
              </a:rPr>
              <a:t>5,7 Mio.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691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Pflegebedürftige
in Deutschland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1051560"/>
            <a:ext cx="1874519" cy="96012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097280"/>
            <a:ext cx="187451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>
                <a:solidFill>
                  <a:srgbClr val="E11D48"/>
                </a:solidFill>
                <a:latin typeface="Calibri"/>
              </a:rPr>
              <a:t>80%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1463040"/>
            <a:ext cx="1691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werden zuhause
versorgt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051560"/>
            <a:ext cx="1874519" cy="96012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097280"/>
            <a:ext cx="187451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>
                <a:solidFill>
                  <a:srgbClr val="E11D48"/>
                </a:solidFill>
                <a:latin typeface="Calibri"/>
              </a:rPr>
              <a:t>4,6 Mio.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1463040"/>
            <a:ext cx="1691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durch Angehörige
betreut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59" y="1051560"/>
            <a:ext cx="1874519" cy="96012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59" y="1097280"/>
            <a:ext cx="1874519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>
                <a:solidFill>
                  <a:srgbClr val="E11D48"/>
                </a:solidFill>
                <a:latin typeface="Calibri"/>
              </a:rPr>
              <a:t>~50%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7999" y="1463040"/>
            <a:ext cx="1691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Entlastungsbetrag
wird nicht abgerufen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286000"/>
            <a:ext cx="804672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313432"/>
            <a:ext cx="2286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Angehörige am Limit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542032"/>
            <a:ext cx="7680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Pflegende Angehörige leisten im Schnitt 36 Stunden/Woche unbezahlte Care-Arbeit. Burnout, Depression und soziale Isolation sind die Folge.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971800"/>
            <a:ext cx="804672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999232"/>
            <a:ext cx="2286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Entlastungsbetrag verfällt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227832"/>
            <a:ext cx="7680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131 EUR/Monat stehen jedem Pflegebedürftigen zu – doch viele wissen nicht, dass der Anspruch besteht oder finden keinen passenden Anbieter.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657600"/>
            <a:ext cx="804672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685032"/>
            <a:ext cx="2286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Lücke zwischen Pflege und Selbstständigkeit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913632"/>
            <a:ext cx="7680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Zwischen 'alles alleine schaffen' und dem Pflegeheim fehlt ein niedrigschwelliges Angebot für alltägliche Begleitung.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410712"/>
            <a:ext cx="658368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6583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1E293B"/>
                </a:solidFill>
                <a:latin typeface="Calibri"/>
              </a:rPr>
              <a:t>Die Lösung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704088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Alltagsbegleitung als Brücke zwischen Selbstständigkeit und Pflegeheim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8046720" cy="6400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6809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E293B"/>
                </a:solidFill>
                <a:latin typeface="Calibri"/>
              </a:rPr>
              <a:t>Alltagsengel bietet geschulte Alltagsbegleiter, die Senioren bei allem unterstützen, was kein Pflegedienst abdeckt – von Einkäufen über Arztbesuche bis hin zu Gesellschaft. Finanziert über den Entlastungsbetrag, kein Eigenanteil nötig.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2606040" cy="228600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11680"/>
            <a:ext cx="2331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1E293B"/>
                </a:solidFill>
                <a:latin typeface="Calibri"/>
              </a:rPr>
              <a:t>Für Senioren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2240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Selbstständigkeit bewahren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79"/>
            <a:ext cx="2240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Soziale Teilhabe stärken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63239"/>
            <a:ext cx="2240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Vertraute Begleiter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2240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Kein Eigenanteil bei PG 2-5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920240"/>
            <a:ext cx="2606040" cy="2286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2011680"/>
            <a:ext cx="2331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1E293B"/>
                </a:solidFill>
                <a:latin typeface="Calibri"/>
              </a:rPr>
              <a:t>Für Angehörige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331720"/>
            <a:ext cx="2240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Entlastung im Alltag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697479"/>
            <a:ext cx="2240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Professionelle Unterstützung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063239"/>
            <a:ext cx="2240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Flexibel buchbar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429000"/>
            <a:ext cx="2240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Transparenz per App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920240"/>
            <a:ext cx="2606040" cy="228600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2011680"/>
            <a:ext cx="2331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500" b="1">
                <a:solidFill>
                  <a:srgbClr val="1E293B"/>
                </a:solidFill>
                <a:latin typeface="Calibri"/>
              </a:rPr>
              <a:t>Für das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331720"/>
            <a:ext cx="2240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Vermeidung von Heimeinweisungen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697479"/>
            <a:ext cx="2240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Prävention statt Intervention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063239"/>
            <a:ext cx="2240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Aktivierung ungenutzter Leistungen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429000"/>
            <a:ext cx="22402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Entlastung der Pflegeinfrastruktur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410712"/>
            <a:ext cx="658368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6583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1E293B"/>
                </a:solidFill>
                <a:latin typeface="Calibri"/>
              </a:rPr>
              <a:t>Marktgröße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704088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Der deutsche Pflegemarkt: 82 Milliarden Euro und stark wachsend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051560"/>
            <a:ext cx="3108960" cy="31089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3108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89888"/>
            <a:ext cx="3108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EUR 82 Mrd.</a:t>
            </a:r>
          </a:p>
        </p:txBody>
      </p:sp>
      <p:sp>
        <p:nvSpPr>
          <p:cNvPr id="7" name="Oval 6"/>
          <p:cNvSpPr/>
          <p:nvPr/>
        </p:nvSpPr>
        <p:spPr>
          <a:xfrm>
            <a:off x="1463040" y="1828800"/>
            <a:ext cx="2103120" cy="2103120"/>
          </a:xfrm>
          <a:prstGeom prst="ellipse">
            <a:avLst/>
          </a:prstGeom>
          <a:solidFill>
            <a:srgbClr val="0B7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057400"/>
            <a:ext cx="21031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4028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EUR 9 Mrd.</a:t>
            </a:r>
          </a:p>
        </p:txBody>
      </p:sp>
      <p:sp>
        <p:nvSpPr>
          <p:cNvPr id="10" name="Oval 9"/>
          <p:cNvSpPr/>
          <p:nvPr/>
        </p:nvSpPr>
        <p:spPr>
          <a:xfrm>
            <a:off x="1920240" y="2560320"/>
            <a:ext cx="1280160" cy="1280160"/>
          </a:xfrm>
          <a:prstGeom prst="ellipse">
            <a:avLst/>
          </a:prstGeom>
          <a:solidFill>
            <a:srgbClr val="085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2743200"/>
            <a:ext cx="128016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907792"/>
            <a:ext cx="12801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EUR 240 Mio.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0" y="1188720"/>
            <a:ext cx="109728" cy="10972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143000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TAM – Pflegemarkt 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371600"/>
            <a:ext cx="3657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Gesamtmarkt Pflege Deutschland (2023)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1645920"/>
            <a:ext cx="3657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Wachstum: ~5% p.a., 7 Mio. Pflegebedürftige bis 2050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0" y="2240279"/>
            <a:ext cx="109728" cy="10972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2194560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SAM – Häusliche Entlastung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423160"/>
            <a:ext cx="3657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Entlastungsleistungen + Alltagsbegleitung + Betreuung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697479"/>
            <a:ext cx="3657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5,7 Mio. x 1.572 EUR = ~EUR 9 Mrd. theoretisches Volumen</a:t>
            </a:r>
          </a:p>
        </p:txBody>
      </p:sp>
      <p:sp>
        <p:nvSpPr>
          <p:cNvPr id="21" name="Oval 20"/>
          <p:cNvSpPr/>
          <p:nvPr/>
        </p:nvSpPr>
        <p:spPr>
          <a:xfrm>
            <a:off x="4572000" y="3291839"/>
            <a:ext cx="109728" cy="10972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3246120"/>
            <a:ext cx="36576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SOM – Rhein-Main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3474720"/>
            <a:ext cx="3657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Frankfurt + 30km Umkreis, ~150.000 Pflegebedürftige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749039"/>
            <a:ext cx="36576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Realistisch erreichbar in 3-5 Jahren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251960"/>
            <a:ext cx="658368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Quellen: Statistisches Bundesamt (2023), pflegemarkt.com, apoBank Branchenreport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410712"/>
            <a:ext cx="658368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6583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1E293B"/>
                </a:solidFill>
                <a:latin typeface="Calibri"/>
              </a:rPr>
              <a:t>Geschäftsmodell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704088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Stundensatz via Entlastungsbetrag + 3-Säulen-Referral-Modell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3840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E293B"/>
                </a:solidFill>
                <a:latin typeface="Calibri"/>
              </a:rPr>
              <a:t>Kerngeschäft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840480" cy="118872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3474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Alltagsbegleitung – Stundensatz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4747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Abrechnung direkt über den Entlastungsbetrag (§45b SGB XI). 131 EUR/Monat pro Kunde, 1.572 EUR/Jahr. Kein Eigenanteil für Pflegegrad 2-5. Skalierbar über Anzahl Kunden x Stunden.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051560"/>
            <a:ext cx="36576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E293B"/>
                </a:solidFill>
                <a:latin typeface="Calibri"/>
              </a:rPr>
              <a:t>Revenue-Rechnung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371600"/>
            <a:ext cx="3657600" cy="118872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417320"/>
            <a:ext cx="329184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Pro Kunde / Jahr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691640"/>
            <a:ext cx="18288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Entlastungsbetrag: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691640"/>
            <a:ext cx="1463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>
                <a:solidFill>
                  <a:srgbClr val="0D9488"/>
                </a:solidFill>
                <a:latin typeface="Calibri"/>
              </a:rPr>
              <a:t>1.572 EUR/Jahr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874520"/>
            <a:ext cx="18288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Durchschn. Stundensatz: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874520"/>
            <a:ext cx="1463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>
                <a:solidFill>
                  <a:srgbClr val="0D9488"/>
                </a:solidFill>
                <a:latin typeface="Calibri"/>
              </a:rPr>
              <a:t>35 EUR/Stunde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057400"/>
            <a:ext cx="18288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Stunden pro Kunde/Jahr: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057400"/>
            <a:ext cx="1463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>
                <a:solidFill>
                  <a:srgbClr val="0D9488"/>
                </a:solidFill>
                <a:latin typeface="Calibri"/>
              </a:rPr>
              <a:t>~45 Stunden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240280"/>
            <a:ext cx="18288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Ziel 100 Kunden: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240280"/>
            <a:ext cx="1463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1">
                <a:solidFill>
                  <a:srgbClr val="0D9488"/>
                </a:solidFill>
                <a:latin typeface="Calibri"/>
              </a:rPr>
              <a:t>157.200 EUR/Jahr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743200"/>
            <a:ext cx="7772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E293B"/>
                </a:solidFill>
                <a:latin typeface="Calibri"/>
              </a:rPr>
              <a:t>3-Säulen-Referral-Modell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108960"/>
            <a:ext cx="2606040" cy="123444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154680"/>
            <a:ext cx="2331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E293B"/>
                </a:solidFill>
                <a:latin typeface="Calibri"/>
              </a:rPr>
              <a:t>Pflegeboxen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383280"/>
            <a:ext cx="23317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0D9488"/>
                </a:solidFill>
                <a:latin typeface="Calibri"/>
              </a:rPr>
              <a:t>PROCARE  |  10% Provision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611880"/>
            <a:ext cx="2331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Pflegehilfsmittel-Box im Wert von bis zu 42 EUR/Monat – kostenlos für Kunden mit Pflegegrad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3108960"/>
            <a:ext cx="2606040" cy="12344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3154680"/>
            <a:ext cx="2331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E293B"/>
                </a:solidFill>
                <a:latin typeface="Calibri"/>
              </a:rPr>
              <a:t>Essen auf Rädern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3383280"/>
            <a:ext cx="23317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0D9488"/>
                </a:solidFill>
                <a:latin typeface="Calibri"/>
              </a:rPr>
              <a:t>Partner  |  Laufende Provision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3611880"/>
            <a:ext cx="2331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Vermittlung von Mahlzeitendiensten an betreute Senioren – wiederkehrende Einnahmen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108960"/>
            <a:ext cx="2606040" cy="1234440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3154680"/>
            <a:ext cx="2331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1E293B"/>
                </a:solidFill>
                <a:latin typeface="Calibri"/>
              </a:rPr>
              <a:t>Hausnotruf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3383280"/>
            <a:ext cx="23317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0D9488"/>
                </a:solidFill>
                <a:latin typeface="Calibri"/>
              </a:rPr>
              <a:t>Partner  |  Pro Vertrag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611880"/>
            <a:ext cx="23317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64748B"/>
                </a:solidFill>
                <a:latin typeface="Calibri"/>
              </a:rPr>
              <a:t>Vermittlung von Hausnotruf-Systemen – Provision pro aktivem Vertrag, monatlich wiederkehrend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3410712"/>
            <a:ext cx="658368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6583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1E293B"/>
                </a:solidFill>
                <a:latin typeface="Calibri"/>
              </a:rP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704088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Mehrkanalstrategie für nachhaltige Kundengewinnung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8046720" cy="566928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78992"/>
            <a:ext cx="2286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Verbund Pflegehilfe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078992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30 Leads/Woche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07592"/>
            <a:ext cx="7680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Exklusive Kooperation: Qualifizierte Leads im PLZ-Gebiet 60313 + 30km Umkreis. Höchste Conversion-Rate aller Kanäle.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09928"/>
            <a:ext cx="8046720" cy="566928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2286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Google Maps &amp; Local SEO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737360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Organisch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65960"/>
            <a:ext cx="7680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Optimiertes Google-Business-Profil, lokale Suchmaschinenoptimierung für 'Alltagsbegleitung Frankfurt' und verwandte Keywords.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68296"/>
            <a:ext cx="8046720" cy="566928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95727"/>
            <a:ext cx="2286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Kooperationen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395727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B2B-Partnerschaften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624328"/>
            <a:ext cx="7680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Pflegestützpunkte, Hausärzte, Apotheken, Senioreneinrichtungen – Empfehlungsnetzwerk in der Region Frankfurt.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26664"/>
            <a:ext cx="8046720" cy="566928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54096"/>
            <a:ext cx="2286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PROCARE Partnerschaft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054096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Cross-Selling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282696"/>
            <a:ext cx="7680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Pflegehilfsmittel-Vermittlung als Türöffner: Kunden für Pflegeboxen werden zu Alltagsbegleitungs-Kunden.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85031"/>
            <a:ext cx="8046720" cy="566928"/>
          </a:xfrm>
          <a:prstGeom prst="round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712463"/>
            <a:ext cx="228600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E293B"/>
                </a:solidFill>
                <a:latin typeface="Calibri"/>
              </a:rPr>
              <a:t>Digitale Kanäle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712463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Website &amp; 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941063"/>
            <a:ext cx="76809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alltagsengel.care als zentrale Anlaufstelle. App in Entwicklung für Buchung, Dokumentation und Kommunikation.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410712"/>
            <a:ext cx="658368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6583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1E293B"/>
                </a:solidFill>
                <a:latin typeface="Calibri"/>
              </a:rPr>
              <a:t>Traction &amp; Meilensteine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7040880" cy="26517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Bereits erreicht – und was als nächstes kommt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3840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E293B"/>
                </a:solidFill>
                <a:latin typeface="Calibri"/>
              </a:rPr>
              <a:t>Erreicht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37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E293B"/>
                </a:solidFill>
                <a:latin typeface="Calibri"/>
              </a:rPr>
              <a:t>§45a SGB XI Anerkennung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41732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Offiziell anerkannter Alltagsbegleitungsdienst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37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E293B"/>
                </a:solidFill>
                <a:latin typeface="Calibri"/>
              </a:rPr>
              <a:t>Website 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92024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alltagsengel.care – SEO-optimiert, Anfragen aktiv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23160"/>
            <a:ext cx="137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23160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E293B"/>
                </a:solidFill>
                <a:latin typeface="Calibri"/>
              </a:rPr>
              <a:t>PROCARE Partnerschaft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42316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Pflegehilfsmittel-Kooperation, 10% Provision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926080"/>
            <a:ext cx="137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926080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E293B"/>
                </a:solidFill>
                <a:latin typeface="Calibri"/>
              </a:rPr>
              <a:t>Verbund Pflegehilfe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292608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30 qualifizierte Leads/Woche, PLZ 60313+30km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29000"/>
            <a:ext cx="13716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0D9488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429000"/>
            <a:ext cx="16459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>
                <a:solidFill>
                  <a:srgbClr val="1E293B"/>
                </a:solidFill>
                <a:latin typeface="Calibri"/>
              </a:rPr>
              <a:t>Büroadresse Frankfurt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3429000"/>
            <a:ext cx="1828800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Neue Mainzer Str. 66-68, 60311 Frankfurt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1051560"/>
            <a:ext cx="38404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E293B"/>
                </a:solidFill>
                <a:latin typeface="Calibri"/>
              </a:rPr>
              <a:t>Nächste Schritte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1417320"/>
            <a:ext cx="3657600" cy="411480"/>
          </a:xfrm>
          <a:prstGeom prst="round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1444752"/>
            <a:ext cx="7315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0D9488"/>
                </a:solidFill>
                <a:latin typeface="Calibri"/>
              </a:rPr>
              <a:t>Q3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1444752"/>
            <a:ext cx="1463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E293B"/>
                </a:solidFill>
                <a:latin typeface="Calibri"/>
              </a:rPr>
              <a:t>App Launch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1618488"/>
            <a:ext cx="25603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Buchung, Dokumentation, Kommunikation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1920240"/>
            <a:ext cx="3657600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92040" y="1947672"/>
            <a:ext cx="7315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0D9488"/>
                </a:solidFill>
                <a:latin typeface="Calibri"/>
              </a:rPr>
              <a:t>Q4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1947672"/>
            <a:ext cx="1463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E293B"/>
                </a:solidFill>
                <a:latin typeface="Calibri"/>
              </a:rPr>
              <a:t>50 aktive Kunden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0" y="2121408"/>
            <a:ext cx="25603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Erste kritische Masse in Frankfurt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0" y="2423160"/>
            <a:ext cx="3657600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92040" y="2450592"/>
            <a:ext cx="7315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0D9488"/>
                </a:solidFill>
                <a:latin typeface="Calibri"/>
              </a:rPr>
              <a:t>Q1 2027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2450592"/>
            <a:ext cx="1463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E293B"/>
                </a:solidFill>
                <a:latin typeface="Calibri"/>
              </a:rPr>
              <a:t>Team auf 10 Begleiter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2624328"/>
            <a:ext cx="25603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Skalierung der Kapazität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54880" y="2926080"/>
            <a:ext cx="3657600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92040" y="2953512"/>
            <a:ext cx="7315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0D9488"/>
                </a:solidFill>
                <a:latin typeface="Calibri"/>
              </a:rPr>
              <a:t>Q2 2027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2953512"/>
            <a:ext cx="1463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E293B"/>
                </a:solidFill>
                <a:latin typeface="Calibri"/>
              </a:rPr>
              <a:t>Expansion Rhein-Main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3127248"/>
            <a:ext cx="25603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Offenbach, Wiesbaden, Darmstadt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0" y="3429000"/>
            <a:ext cx="3657600" cy="41148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92040" y="3456432"/>
            <a:ext cx="7315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>
                <a:solidFill>
                  <a:srgbClr val="0D9488"/>
                </a:solidFill>
                <a:latin typeface="Calibri"/>
              </a:rPr>
              <a:t>2028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3456432"/>
            <a:ext cx="146304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E293B"/>
                </a:solidFill>
                <a:latin typeface="Calibri"/>
              </a:rPr>
              <a:t>EUR 500K+ Jahresumsatz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3630168"/>
            <a:ext cx="2560320" cy="16459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Profitabilität im Kernmarkt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3410712"/>
            <a:ext cx="658368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0" y="-914400"/>
            <a:ext cx="2560320" cy="25603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2926080"/>
            <a:ext cx="1828800" cy="1828800"/>
          </a:xfrm>
          <a:prstGeom prst="ellipse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Die Gesamtvision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6858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CCFBF1"/>
                </a:solidFill>
                <a:latin typeface="Calibri"/>
              </a:rPr>
              <a:t>Eine Plattform-Holding, die zwei Wachstumsmärkte verbindet: Beauty-Infrastruktur und Seniorenbetreuung.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828800" cy="1371600"/>
          </a:xfrm>
          <a:prstGeom prst="roundRect">
            <a:avLst/>
          </a:prstGeom>
          <a:solidFill>
            <a:srgbClr val="0F4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1874519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CCFBF1"/>
                </a:solidFill>
                <a:latin typeface="Calibri"/>
              </a:rP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2103120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377440"/>
            <a:ext cx="1645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CCFBF1"/>
                </a:solidFill>
                <a:latin typeface="Calibri"/>
              </a:rPr>
              <a:t>ChairMatch MVP + Alltagsengel operativ in Frankfurt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1783080"/>
            <a:ext cx="1828800" cy="1371600"/>
          </a:xfrm>
          <a:prstGeom prst="roundRect">
            <a:avLst/>
          </a:prstGeom>
          <a:solidFill>
            <a:srgbClr val="0F4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874519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CCFBF1"/>
                </a:solidFill>
                <a:latin typeface="Calibri"/>
              </a:rPr>
              <a:t>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103120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377440"/>
            <a:ext cx="1645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CCFBF1"/>
                </a:solidFill>
                <a:latin typeface="Calibri"/>
              </a:rPr>
              <a:t>Marktführer Rhein-Main in beiden Segmenten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783080"/>
            <a:ext cx="1828800" cy="1371600"/>
          </a:xfrm>
          <a:prstGeom prst="roundRect">
            <a:avLst/>
          </a:prstGeom>
          <a:solidFill>
            <a:srgbClr val="0F4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1874519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CCFBF1"/>
                </a:solidFill>
                <a:latin typeface="Calibri"/>
              </a:rPr>
              <a:t>2028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103120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377440"/>
            <a:ext cx="1645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CCFBF1"/>
                </a:solidFill>
                <a:latin typeface="Calibri"/>
              </a:rPr>
              <a:t>Expansion DACH + App-Plattform für beide Firmen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1783080"/>
            <a:ext cx="1828800" cy="1371600"/>
          </a:xfrm>
          <a:prstGeom prst="roundRect">
            <a:avLst/>
          </a:prstGeom>
          <a:solidFill>
            <a:srgbClr val="0F4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874519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>
                <a:solidFill>
                  <a:srgbClr val="CCFBF1"/>
                </a:solidFill>
                <a:latin typeface="Calibri"/>
              </a:rPr>
              <a:t>2030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103120"/>
            <a:ext cx="16459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377440"/>
            <a:ext cx="16459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0">
                <a:solidFill>
                  <a:srgbClr val="CCFBF1"/>
                </a:solidFill>
                <a:latin typeface="Calibri"/>
              </a:rPr>
              <a:t>Holding mit 100K+ Nutzern und EUR 10M+ ARR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383280"/>
            <a:ext cx="77724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Synergien zwischen den Firmen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703320"/>
            <a:ext cx="7589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CCFBF1"/>
                </a:solidFill>
                <a:latin typeface="Calibri"/>
              </a:rPr>
              <a:t>Shared Tech Stack: Eine Plattform-Architektur, zwei Verticals – Booking, CRM, Payment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977639"/>
            <a:ext cx="7589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CCFBF1"/>
                </a:solidFill>
                <a:latin typeface="Calibri"/>
              </a:rPr>
              <a:t>Cross-Referral: Beauty-Kunden empfehlen Alltagsengel an ältere Familienmitglieder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251959"/>
            <a:ext cx="75895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CCFBF1"/>
                </a:solidFill>
                <a:latin typeface="Calibri"/>
              </a:rPr>
              <a:t>Diversifikation: Konjunkturresistente Pflege + wachstumsstarke Beauty-Tech – ausbalanciertes Portfolio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410712"/>
            <a:ext cx="658368" cy="201168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900" b="0">
                <a:solidFill>
                  <a:srgbClr val="94A3B8"/>
                </a:solidFill>
                <a:latin typeface="Calibri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Ask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€1.5M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/ Seed Runde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2560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Produktentwicklung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→ Full Product, App Launch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51760" y="246888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651760" y="2560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651760" y="2971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Team-Aufbau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3246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CTO, Sales, Product Hires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246888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846320" y="2560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46320" y="2971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Sales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3246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Kundenakquise, Messen, Branding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040880" y="246888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040880" y="25603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040880" y="2971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40880" y="3246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Legal, Infrastruktur, Reserves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977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Meilensteine mit dieser Runde:</a:t>
            </a:r>
            <a:endParaRPr lang="en-US" sz="12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315968"/>
            <a:ext cx="201168" cy="20116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14400" y="4297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live &amp; 500+ aktive Nutzer</a:t>
            </a:r>
            <a:endParaRPr lang="en-US" sz="110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90288"/>
            <a:ext cx="201168" cy="20116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914400" y="4572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€300K+ ARR erreichen</a:t>
            </a:r>
            <a:endParaRPr lang="en-US" sz="11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15968"/>
            <a:ext cx="201168" cy="20116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846320" y="4297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Product-Market-Fit validiert</a:t>
            </a:r>
            <a:endParaRPr lang="en-US" sz="11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590288"/>
            <a:ext cx="201168" cy="20116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846320" y="4572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Serie-A-Ready in 18 Monaten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27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E11D48">
              <a:alpha val="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Vision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bauen das Betriebssystem</a:t>
            </a:r>
            <a:endParaRPr lang="en-US" sz="2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Beauty-Industrie.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6517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Welt, in der jeder Beauty-Professional — vom Freelance-Stylisten bis zur Medical-Beauty-Klinik — die digitale Infrastruktur hat, um unabhängig und erfolgreich zu arbeiten.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7490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3794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Marktführer DACH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37490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743200" y="3794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0" y="4114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Europa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37490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846320" y="3794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4114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 Professionals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374904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949440" y="3794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49440" y="4114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Globale Plattform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27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3657600" cy="36576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E11D48">
              <a:alpha val="10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7315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Danke.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Lassen Sie uns gemeinsam die Beauty-Branche digitalisieren.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0" y="2286000"/>
            <a:ext cx="4572000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2423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ChairMatch</a:t>
            </a:r>
            <a:endParaRPr lang="en-US" sz="2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3017520"/>
            <a:ext cx="228600" cy="228600"/>
          </a:xfrm>
          <a:prstGeom prst="rect">
            <a:avLst/>
          </a:prstGeom>
        </p:spPr>
      </p:pic>
      <p:sp>
        <p:nvSpPr>
          <p:cNvPr id="9" name="Text 6">
            <a:hlinkClick r:id="rId2" tooltip=""/>
          </p:cNvPr>
          <p:cNvSpPr/>
          <p:nvPr/>
        </p:nvSpPr>
        <p:spPr>
          <a:xfrm>
            <a:off x="3337560" y="3017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chairmatch.de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338328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37560" y="3383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kontakt@chairmatch.de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374904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37560" y="3749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Frankfurt am Main, Deutschland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ChairMatch Investor Pitch Deck 2026</dc:title>
  <dc:subject>PptxGenJS Presentation</dc:subject>
  <dc:creator>ChairMatch</dc:creator>
  <cp:lastModifiedBy>ChairMatch</cp:lastModifiedBy>
  <cp:revision>1</cp:revision>
  <dcterms:created xsi:type="dcterms:W3CDTF">2026-06-24T17:41:13Z</dcterms:created>
  <dcterms:modified xsi:type="dcterms:W3CDTF">2026-06-24T17:41:13Z</dcterms:modified>
</cp:coreProperties>
</file>