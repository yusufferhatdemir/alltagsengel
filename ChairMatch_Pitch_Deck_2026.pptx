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Funds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A87C"/>
              </a:solidFill>
              <a:effectLst/>
            </c:spPr>
          </c:dPt>
          <c:dPt>
            <c:idx val="1"/>
            <c:bubble3D val="0"/>
            <c:spPr>
              <a:solidFill>
                <a:srgbClr val="5B9BD5"/>
              </a:solidFill>
              <a:effectLst/>
            </c:spPr>
          </c:dPt>
          <c:dPt>
            <c:idx val="2"/>
            <c:bubble3D val="0"/>
            <c:spPr>
              <a:solidFill>
                <a:srgbClr val="6BAF7B"/>
              </a:solidFill>
              <a:effectLst/>
            </c:spPr>
          </c:dPt>
          <c:dPt>
            <c:idx val="3"/>
            <c:bubble3D val="0"/>
            <c:spPr>
              <a:solidFill>
                <a:srgbClr val="C4845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8F4F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8F4F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8F4F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8F4F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Produktentwicklung</c:v>
                </c:pt>
                <c:pt idx="1">
                  <c:v>Marketing &amp; Akquise</c:v>
                </c:pt>
                <c:pt idx="2">
                  <c:v>Operations</c:v>
                </c:pt>
                <c:pt idx="3">
                  <c:v>Team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E9E9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A87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ChairMatch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8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digitale Marktplatz für Beauty-Stuhlvermietung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2286000" cy="0"/>
          </a:xfrm>
          <a:prstGeom prst="line">
            <a:avLst/>
          </a:prstGeom>
          <a:noFill/>
          <a:ln w="25400">
            <a:solidFill>
              <a:srgbClr val="E8A8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880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Deck  —  Juni 2026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0" y="3474720"/>
            <a:ext cx="1828800" cy="1828800"/>
          </a:xfrm>
          <a:prstGeom prst="ellipse">
            <a:avLst/>
          </a:prstGeom>
          <a:solidFill>
            <a:srgbClr val="E8A87C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3931920"/>
            <a:ext cx="1097280" cy="1097280"/>
          </a:xfrm>
          <a:prstGeom prst="ellipse">
            <a:avLst/>
          </a:prstGeom>
          <a:solidFill>
            <a:srgbClr val="E8A87C">
              <a:alpha val="2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7680960" cy="100584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80160"/>
            <a:ext cx="64008" cy="1005840"/>
          </a:xfrm>
          <a:prstGeom prst="rect">
            <a:avLst/>
          </a:prstGeom>
          <a:solidFill>
            <a:srgbClr val="E8A87C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508760"/>
            <a:ext cx="502920" cy="502920"/>
          </a:xfrm>
          <a:prstGeom prst="ellipse">
            <a:avLst/>
          </a:prstGeom>
          <a:solidFill>
            <a:srgbClr val="E8A87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135331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Leere Stühle kosten Geld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17373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Salons haben durchschnittlich 30 % ungenutzte Kapazität — das sind tausende Euro entgangener Umsatz pro Jahr.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7680960" cy="100584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468880"/>
            <a:ext cx="64008" cy="1005840"/>
          </a:xfrm>
          <a:prstGeom prst="rect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1005840" y="2697480"/>
            <a:ext cx="502920" cy="502920"/>
          </a:xfrm>
          <a:prstGeom prst="ellipse">
            <a:avLst/>
          </a:prstGeom>
          <a:solidFill>
            <a:srgbClr val="E8A87C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25420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Freelancer finden keinen Platz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Selbstständige Friseure und Beauty-Profis suchen verzweifelt nach flexiblen Arbeitsplätzen — und finden nur Mundpropaganda.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7680960" cy="100584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657600"/>
            <a:ext cx="64008" cy="1005840"/>
          </a:xfrm>
          <a:prstGeom prst="rect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3886200"/>
            <a:ext cx="502920" cy="502920"/>
          </a:xfrm>
          <a:prstGeom prst="ellipse">
            <a:avLst/>
          </a:prstGeom>
          <a:solidFill>
            <a:srgbClr val="E8A87C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91640" y="37307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digitaler Standard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91640" y="4114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Stuhlvermietung läuft über Kleinanzeigen, WhatsApp und Aushänge. Keine Plattform, keine Transparenz, kein Vertrauen.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Lösung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ChairMatch = Airbnb für Beauty-Stühle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Matching, Buchung, Zahlung — alles auf einer Plattform.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2468880" cy="228600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45920" y="2514600"/>
            <a:ext cx="640080" cy="640080"/>
          </a:xfrm>
          <a:prstGeom prst="ellipse">
            <a:avLst/>
          </a:prstGeom>
          <a:solidFill>
            <a:srgbClr val="E8A87C"/>
          </a:solidFill>
          <a:ln/>
        </p:spPr>
      </p:sp>
      <p:sp>
        <p:nvSpPr>
          <p:cNvPr id="6" name="Text 4"/>
          <p:cNvSpPr/>
          <p:nvPr/>
        </p:nvSpPr>
        <p:spPr>
          <a:xfrm>
            <a:off x="16459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 listet Stuhl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794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Fotos, Preise, Verfügbarkeit — in 5 Minuten online.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74720" y="2286000"/>
            <a:ext cx="2468880" cy="228600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2514600"/>
            <a:ext cx="640080" cy="640080"/>
          </a:xfrm>
          <a:prstGeom prst="ellipse">
            <a:avLst/>
          </a:prstGeom>
          <a:solidFill>
            <a:srgbClr val="E8A87C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703320" y="3337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Freelancer sucht &amp; bucht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03320" y="3794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nach Stadt, Preis, Ausstattung. Sofortbuchung.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2286000"/>
            <a:ext cx="2468880" cy="228600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0" y="2514600"/>
            <a:ext cx="640080" cy="640080"/>
          </a:xfrm>
          <a:prstGeom prst="ellipse">
            <a:avLst/>
          </a:prstGeom>
          <a:solidFill>
            <a:srgbClr val="E8A87C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46520" y="3337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ChairMatch vermittelt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46520" y="3794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Zahlung, Bewertungen, Vertragsverwaltung.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3429000"/>
            <a:ext cx="274320" cy="0"/>
          </a:xfrm>
          <a:prstGeom prst="line">
            <a:avLst/>
          </a:prstGeom>
          <a:noFill/>
          <a:ln w="25400">
            <a:solidFill>
              <a:srgbClr val="E8A8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3429000"/>
            <a:ext cx="274320" cy="0"/>
          </a:xfrm>
          <a:prstGeom prst="line">
            <a:avLst/>
          </a:prstGeom>
          <a:noFill/>
          <a:ln w="25400">
            <a:solidFill>
              <a:srgbClr val="E8A87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Marktgröße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2468880" cy="31089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71600" y="1508760"/>
            <a:ext cx="1188720" cy="411480"/>
          </a:xfrm>
          <a:prstGeom prst="rect">
            <a:avLst/>
          </a:prstGeom>
          <a:solidFill>
            <a:srgbClr val="E8A87C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5087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8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35,6 Mrd€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Beauty-Branche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Deutschland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1280160"/>
            <a:ext cx="2468880" cy="31089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0" y="1508760"/>
            <a:ext cx="1188720" cy="411480"/>
          </a:xfrm>
          <a:prstGeom prst="rect">
            <a:avLst/>
          </a:prstGeom>
          <a:solidFill>
            <a:srgbClr val="C4845A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0" y="15087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66160" y="2103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8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2,5 Mrd€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657600" y="3063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Stuhlvermietung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adressierbarer Markt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1280160"/>
            <a:ext cx="2468880" cy="31089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58000" y="1508760"/>
            <a:ext cx="1188720" cy="41148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15087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2103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8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Mio€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400800" y="3063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Fokus: Frankfurt,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Hamburg, Berlin, München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Statista 2025, Euromonitor, IBISWorld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Geschäftsmodell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Umsatzströme — skalierbar, wiederkehrend, plattformbasiert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91440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02920" cy="502920"/>
          </a:xfrm>
          <a:prstGeom prst="ellipse">
            <a:avLst/>
          </a:prstGeom>
          <a:solidFill>
            <a:srgbClr val="E8A87C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645920" y="1783080"/>
            <a:ext cx="1097280" cy="457200"/>
          </a:xfrm>
          <a:prstGeom prst="rect">
            <a:avLst/>
          </a:prstGeom>
          <a:solidFill>
            <a:srgbClr val="E8A87C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0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10–15 %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Vermittlungsprovision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26080" y="2057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Buchung — vom Stuhlmieter. Transaktionsbasiertes Kerngeschäft.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651760"/>
            <a:ext cx="7680960" cy="91440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0120" y="2834640"/>
            <a:ext cx="502920" cy="502920"/>
          </a:xfrm>
          <a:prstGeom prst="ellipse">
            <a:avLst/>
          </a:prstGeom>
          <a:solidFill>
            <a:srgbClr val="E8A87C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45920" y="2834640"/>
            <a:ext cx="1097280" cy="457200"/>
          </a:xfrm>
          <a:prstGeom prst="rect">
            <a:avLst/>
          </a:prstGeom>
          <a:solidFill>
            <a:srgbClr val="E8A87C"/>
          </a:solidFill>
          <a:ln/>
        </p:spPr>
      </p:sp>
      <p:sp>
        <p:nvSpPr>
          <p:cNvPr id="15" name="Text 13"/>
          <p:cNvSpPr/>
          <p:nvPr/>
        </p:nvSpPr>
        <p:spPr>
          <a:xfrm>
            <a:off x="1645920" y="28346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26080" y="2743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Premium-Listings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9260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Salons zahlen monatlich für Top-Platzierung, verifizierte Badges und Analytics.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703320"/>
            <a:ext cx="7680960" cy="91440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3886200"/>
            <a:ext cx="502920" cy="502920"/>
          </a:xfrm>
          <a:prstGeom prst="ellipse">
            <a:avLst/>
          </a:prstGeom>
          <a:solidFill>
            <a:srgbClr val="E8A87C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645920" y="3886200"/>
            <a:ext cx="1097280" cy="457200"/>
          </a:xfrm>
          <a:prstGeom prst="rect">
            <a:avLst/>
          </a:prstGeom>
          <a:solidFill>
            <a:srgbClr val="E8A87C"/>
          </a:solidFill>
          <a:ln/>
        </p:spPr>
      </p:sp>
      <p:sp>
        <p:nvSpPr>
          <p:cNvPr id="22" name="Text 20"/>
          <p:cNvSpPr/>
          <p:nvPr/>
        </p:nvSpPr>
        <p:spPr>
          <a:xfrm>
            <a:off x="1645920" y="3886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926080" y="3794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SaaS-Features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92608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Kalender, Zahlungsabwicklung, Bewertungssystem — integrierte Tools als Upsell.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funktioniert ChairMatch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457200"/>
          </a:xfrm>
          <a:prstGeom prst="rect">
            <a:avLst/>
          </a:prstGeom>
          <a:solidFill>
            <a:srgbClr val="E8A87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Salons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280160"/>
            <a:ext cx="3657600" cy="45720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280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Freelancer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965960"/>
            <a:ext cx="3657600" cy="5943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0574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2057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erstellen &amp; Stuhl fotografieren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3657600" cy="5943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27889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Preise &amp; Verfügbarkeit festlegen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429000"/>
            <a:ext cx="3657600" cy="5943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5204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63040" y="3520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Buchungsanfragen erhalten &amp; bestätigen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160520"/>
            <a:ext cx="3657600" cy="5943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63040" y="4251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Einnahmen direkt auf dem Konto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1965960"/>
            <a:ext cx="3657600" cy="5943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92040" y="20574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0" y="2057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&amp; Portfolio anlegen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54880" y="2697480"/>
            <a:ext cx="3657600" cy="5943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92040" y="27889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Stadt, Preis &amp; Ausstattung filtern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3429000"/>
            <a:ext cx="3657600" cy="5943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92040" y="35204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3520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Stuhl sofort oder auf Anfrage buchen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54880" y="4160520"/>
            <a:ext cx="3657600" cy="5943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9204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0" y="4251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Bewerten &amp; wiederkehrend buchen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4572000"/>
            <a:ext cx="7680960" cy="36576"/>
          </a:xfrm>
          <a:prstGeom prst="rect">
            <a:avLst/>
          </a:prstGeom>
          <a:solidFill>
            <a:srgbClr val="E8A87C">
              <a:alpha val="50000"/>
            </a:srgbClr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Traktion &amp; Meilensteine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2468880" cy="146304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371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Mover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Deutschland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74720" y="1280160"/>
            <a:ext cx="2468880" cy="146304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566160" y="1371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BAF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56616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vergleichbare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Plattformen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2468880" cy="146304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9360" y="1371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9B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39.960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30936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Friseure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Deutschland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063240"/>
            <a:ext cx="7680960" cy="38404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0632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06324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Marktanalyse abgeschlossen — kein vergleichbares Produkt in DACH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520440"/>
            <a:ext cx="7680960" cy="38404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520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52044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live — erste Interessenten-Registrierungen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977640"/>
            <a:ext cx="7680960" cy="38404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977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97764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 validiert durch Salon-Interviews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4434840"/>
            <a:ext cx="7680960" cy="3840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4348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443484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MVP-Entwicklung startet Q3 2026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Wettbewerbsvorteil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468880" y="1188720"/>
            <a:ext cx="1371600" cy="5943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468880" y="11887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Kleinanzeigen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0" y="1188720"/>
            <a:ext cx="1371600" cy="5943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840480" y="11887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Absprachen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212080" y="1188720"/>
            <a:ext cx="1371600" cy="5943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212080" y="11887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75120" y="1188720"/>
            <a:ext cx="1645920" cy="594360"/>
          </a:xfrm>
          <a:prstGeom prst="rect">
            <a:avLst/>
          </a:prstGeom>
          <a:solidFill>
            <a:srgbClr val="E8A87C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11887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ChairMatch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7863840" cy="43891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9202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Beauty-Spezialisierung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8880" y="19202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72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40480" y="19202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72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12080" y="19202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19202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2423160"/>
            <a:ext cx="7863840" cy="43891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42316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Online-Buchung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68880" y="242316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72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242316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72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242316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242316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2926080"/>
            <a:ext cx="7863840" cy="43891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9260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Zahlung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68880" y="292608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72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840480" y="292608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72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212080" y="292608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75120" y="292608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3429000"/>
            <a:ext cx="7863840" cy="43891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34290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Bewertungssystem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468880" y="34290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840480" y="34290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72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212080" y="34290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675120" y="342900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57200" y="3931920"/>
            <a:ext cx="7863840" cy="43891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39319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DACH-Fokus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468880" y="3931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840480" y="3931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212080" y="3931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72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675120" y="393192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57200" y="4434840"/>
            <a:ext cx="7863840" cy="43891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3" name="Text 41"/>
          <p:cNvSpPr/>
          <p:nvPr/>
        </p:nvSpPr>
        <p:spPr>
          <a:xfrm>
            <a:off x="548640" y="44348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Kalender-Integration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468880" y="44348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72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840480" y="44348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72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212080" y="443484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75120" y="44348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675120" y="1920240"/>
            <a:ext cx="1645920" cy="2953512"/>
          </a:xfrm>
          <a:prstGeom prst="rect">
            <a:avLst/>
          </a:prstGeom>
          <a:solidFill>
            <a:srgbClr val="E8A87C">
              <a:alpha val="10000"/>
            </a:srgbClr>
          </a:solidFill>
          <a:ln w="19050">
            <a:solidFill>
              <a:srgbClr val="E8A87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Soziales Engagement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7680960" cy="201168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4630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1€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0" y="146304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Buchung für Kinder- und Familienhilfe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ChairMatch verbindet wirtschaftlichen Erfolg mit sozialer Verantwortung. Jede Buchung trägt direkt zur Unterstützung von Familien in Not bei.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2468880" cy="109728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AF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10.000+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Buchungen im ersten Jahr (Ziel)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74720" y="3657600"/>
            <a:ext cx="2468880" cy="109728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6616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AF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10.000€+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gemeinnützige Zwecke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3657600"/>
            <a:ext cx="2468880" cy="109728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AF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093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dokumentiert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508760"/>
            <a:ext cx="7680960" cy="0"/>
          </a:xfrm>
          <a:prstGeom prst="line">
            <a:avLst/>
          </a:prstGeom>
          <a:noFill/>
          <a:ln w="25400">
            <a:solidFill>
              <a:srgbClr val="E8A87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371600"/>
            <a:ext cx="274320" cy="274320"/>
          </a:xfrm>
          <a:prstGeom prst="ellipse">
            <a:avLst/>
          </a:prstGeom>
          <a:solidFill>
            <a:srgbClr val="E8A87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373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514600"/>
            <a:ext cx="1737360" cy="21945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514600"/>
            <a:ext cx="1737360" cy="45720"/>
          </a:xfrm>
          <a:prstGeom prst="rect">
            <a:avLst/>
          </a:prstGeom>
          <a:solidFill>
            <a:srgbClr val="E8A87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974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live in Frankfurt,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Hamburg, Berlin, München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33375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100 Salons onboarden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3977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Marketing-Kampagne starten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1371600"/>
            <a:ext cx="274320" cy="274320"/>
          </a:xfrm>
          <a:prstGeom prst="ellipse">
            <a:avLst/>
          </a:prstGeom>
          <a:solidFill>
            <a:srgbClr val="C4845A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17373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8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20574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743200" y="2514600"/>
            <a:ext cx="1737360" cy="21945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0" y="2514600"/>
            <a:ext cx="1737360" cy="45720"/>
          </a:xfrm>
          <a:prstGeom prst="rect">
            <a:avLst/>
          </a:prstGeom>
          <a:solidFill>
            <a:srgbClr val="C4845A"/>
          </a:solidFill>
          <a:ln/>
        </p:spPr>
      </p:sp>
      <p:sp>
        <p:nvSpPr>
          <p:cNvPr id="17" name="Text 15"/>
          <p:cNvSpPr/>
          <p:nvPr/>
        </p:nvSpPr>
        <p:spPr>
          <a:xfrm>
            <a:off x="2880360" y="26974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&amp; Android App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880360" y="33375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Push-Benachrichtigungen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80360" y="3977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Messaging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94960" y="1371600"/>
            <a:ext cx="274320" cy="274320"/>
          </a:xfrm>
          <a:prstGeom prst="ellipse">
            <a:avLst/>
          </a:prstGeom>
          <a:solidFill>
            <a:srgbClr val="5B9BD5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17373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20574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754880" y="2514600"/>
            <a:ext cx="1737360" cy="21945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2514600"/>
            <a:ext cx="1737360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25" name="Text 23"/>
          <p:cNvSpPr/>
          <p:nvPr/>
        </p:nvSpPr>
        <p:spPr>
          <a:xfrm>
            <a:off x="4892040" y="26974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Premium-Listings live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3375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SaaS-Features (Kalender)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3977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Umsätze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406640" y="1371600"/>
            <a:ext cx="274320" cy="274320"/>
          </a:xfrm>
          <a:prstGeom prst="ellipse">
            <a:avLst/>
          </a:prstGeom>
          <a:solidFill>
            <a:srgbClr val="6BAF7B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17373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A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Q2–Q4 2027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0574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DACH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766560" y="2514600"/>
            <a:ext cx="1737360" cy="219456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66560" y="2514600"/>
            <a:ext cx="1737360" cy="45720"/>
          </a:xfrm>
          <a:prstGeom prst="rect">
            <a:avLst/>
          </a:prstGeom>
          <a:solidFill>
            <a:srgbClr val="6BAF7B"/>
          </a:solidFill>
          <a:ln/>
        </p:spPr>
      </p:sp>
      <p:sp>
        <p:nvSpPr>
          <p:cNvPr id="33" name="Text 31"/>
          <p:cNvSpPr/>
          <p:nvPr/>
        </p:nvSpPr>
        <p:spPr>
          <a:xfrm>
            <a:off x="6903720" y="26974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Österreich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Schweiz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03720" y="33375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1.000+ aktive Salons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03720" y="3977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Series-A-Vorbereitung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3200400"/>
          </a:xfrm>
          <a:prstGeom prst="rect">
            <a:avLst/>
          </a:prstGeom>
          <a:solidFill>
            <a:srgbClr val="1F1F1F"/>
          </a:solidFill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0584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Runde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05840" y="1783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100–200T€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Monate Runway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3017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MVP-Launch in 4 Top-Städten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3337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1.000+ registrierte Salons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657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App für iOS &amp; Android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3977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Erste wiederkehrende Umsätze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Mittelverwendung</a:t>
            </a:r>
            <a:endParaRPr lang="en-US" sz="16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754880" y="1737360"/>
          <a:ext cx="3840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A87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Jeder Stuhl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8A8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verdient einen Profi.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2286000" cy="0"/>
          </a:xfrm>
          <a:prstGeom prst="line">
            <a:avLst/>
          </a:prstGeom>
          <a:noFill/>
          <a:ln w="25400">
            <a:solidFill>
              <a:srgbClr val="E8A8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83464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ChairMatch</a:t>
            </a:r>
            <a:endParaRPr lang="en-US" sz="22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E-Mail:   info@chairmatch.de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Web:      www.chairmatch.de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F8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Standort: Frankfurt am Main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0" y="3474720"/>
            <a:ext cx="1828800" cy="1828800"/>
          </a:xfrm>
          <a:prstGeom prst="ellipse">
            <a:avLst/>
          </a:prstGeom>
          <a:solidFill>
            <a:srgbClr val="E8A87C">
              <a:alpha val="1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589520" y="3931920"/>
            <a:ext cx="1097280" cy="1097280"/>
          </a:xfrm>
          <a:prstGeom prst="ellipse">
            <a:avLst/>
          </a:prstGeom>
          <a:solidFill>
            <a:srgbClr val="E8A87C">
              <a:alpha val="20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ChairMatch Investor Pitch Deck 2026</dc:title>
  <dc:subject>PptxGenJS Presentation</dc:subject>
  <dc:creator>ChairMatch</dc:creator>
  <cp:lastModifiedBy>ChairMatch</cp:lastModifiedBy>
  <cp:revision>1</cp:revision>
  <dcterms:created xsi:type="dcterms:W3CDTF">2026-06-05T23:24:43Z</dcterms:created>
  <dcterms:modified xsi:type="dcterms:W3CDTF">2026-06-05T23:24:43Z</dcterms:modified>
</cp:coreProperties>
</file>