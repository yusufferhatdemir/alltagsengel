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3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notesMaster" Target="notesMasters/notesMaster1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heme" Target="theme/theme1.xml"/>
  <Relationship Id="rId20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_rels/notesSlide11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
</file>

<file path=ppt/notesSlides/_rels/notesSlide12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
</file>

<file path=ppt/notesSlides/_rels/notesSlide13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
</file>

<file path=ppt/notesSlides/_rels/notesSlide14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_logo.png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  <Relationship Id="rId3" Type="http://schemas.openxmlformats.org/officeDocument/2006/relationships/image" Target="../media/icon_alltagsbegleitung.png"/>
  <Relationship Id="rId4" Type="http://schemas.openxmlformats.org/officeDocument/2006/relationships/image" Target="../media/icon_krankenfahrten.png"/>
  <Relationship Id="rId5" Type="http://schemas.openxmlformats.org/officeDocument/2006/relationships/image" Target="../media/icon_hygienebox.png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pic>
        <p:nvPicPr>
          <p:cNvPr id="3" name="Logo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657600" y="274320"/>
            <a:ext cx="868680" cy="868680"/>
          </a:xfrm>
          <a:prstGeom prst="roundRect">
            <a:avLst>
              <a:gd name="adj" fmla="val 14545"/>
            </a:avLst>
          </a:prstGeom>
        </p:spPr>
      </p:pic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Mit Herz für dich 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Alltagsbegleitung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6576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100% Versichert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§45b Integriert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24/7 Verfügbar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E5E"/>
                </a:solidFill>
              </a:rPr>
              <a:t>Investor Pitch Deck ·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Der Pflegemarkt braucht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digitale Innovation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Ungenutzte Mittel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€7,44B §45b Budget, nur 40% wird abgerufen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⏱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Analoge Prozesse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Analoge Vermittlung, lange Wartezeiten, manuelles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⚠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Qualitätsmangel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Keine standardisierte Qualitätssicherung, Vertrauensdefizit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 — Die Plattform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für Alltagsbegleitung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Sofortige Vermittlung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Zertifizierte Begleiter in Ihrer Nähe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§45b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Direkte Abrechnung mit Pflegekassen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Qualitätsgarantie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Geprüfte &amp; bewertete Alltagsengel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</a:rPr>
              <a:t>App Interface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Engel in Ihrer Nähe finden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§45b Zuschuss automatisch abrechnen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Begleiter bewerten &amp; überprüfen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 Markt mit €50 Mrd.+ Potenzial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€50B+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Deutscher Pflegemarkt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€7,44B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§45b jährliches 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€150M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5-Jahres Ziel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8C7C"/>
                </a:solidFill>
              </a:rPr>
              <a:t>4,96 Mio. Pflegebedürftige in Deutschland · Tendenz steigend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457200" cy="2743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840480"/>
            <a:ext cx="457200" cy="5486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3566160"/>
            <a:ext cx="457200" cy="82296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3291840"/>
            <a:ext cx="4572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3017520"/>
            <a:ext cx="457200" cy="13716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Section label --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100" dirty="0"/>
          </a:p>
        </p:txBody>
      </p:sp>
      <!-- Title --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Drei Einnahmequellen,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starke Margen</a:t>
            </a:r>
            <a:endParaRPr lang="en-US" sz="3200" dirty="0"/>
          </a:p>
        </p:txBody>
      </p:sp>
      <!-- CARD 1 Background -->
      <p:sp>
        <p:nvSpPr>
          <p:cNvPr id="4" name="Card1"/>
          <p:cNvSpPr/>
          <p:nvPr/>
        </p:nvSpPr>
        <p:spPr>
          <a:xfrm>
            <a:off x="274320" y="1828800"/>
            <a:ext cx="2743200" cy="219456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</a:ln>
        </p:spPr>
      </p:sp>
      <!-- Card 1 Icon (Alltagsbegleitung) -->
      <p:pic>
        <p:nvPicPr>
          <p:cNvPr id="5" name="Card1Icon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57200" y="1920240"/>
            <a:ext cx="457200" cy="457200"/>
          </a:xfrm>
          <a:prstGeom prst="rect">
            <a:avLst/>
          </a:prstGeom>
        </p:spPr>
      </p:pic>
      <!-- Card 1 Title -->
      <p:sp>
        <p:nvSpPr>
          <p:cNvPr id="6" name="Card1Title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</a:rPr>
              <a:t>€32,50/Std. Vermittlung</a:t>
            </a:r>
          </a:p>
        </p:txBody>
      </p:sp>
      <!-- Card 1 Description -->
      <p:sp>
        <p:nvSpPr>
          <p:cNvPr id="7" name="Card1Desc"/>
          <p:cNvSpPr/>
          <p:nvPr/>
        </p:nvSpPr>
        <p:spPr>
          <a:xfrm>
            <a:off x="36576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  <a:latin typeface="Calibri Light" pitchFamily="34" charset="0"/>
              </a:rPr>
              <a:t>Engel als Freiberufler: €20-25/Std.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  <a:latin typeface="Calibri Light" pitchFamily="34" charset="0"/>
              </a:rPr>
              <a:t>Marge: €7,50-12,50/Std.</a:t>
            </a:r>
          </a:p>
          <a:p>
            <a:pPr algn="ctr" indent="0" marL="0">
              <a:buNone/>
            </a:pPr>
            <a:r>
              <a:rPr lang="en-US" sz="1100" i="1" dirty="0">
                <a:solidFill>
                  <a:srgbClr val="C9963C"/>
                </a:solidFill>
                <a:latin typeface="Calibri Light" pitchFamily="34" charset="0"/>
              </a:rPr>
              <a:t>→ Später €35/Std.</a:t>
            </a:r>
          </a:p>
        </p:txBody>
      </p:sp>
      <!-- CARD 2 Background -->
      <p:sp>
        <p:nvSpPr>
          <p:cNvPr id="8" name="Card2"/>
          <p:cNvSpPr/>
          <p:nvPr/>
        </p:nvSpPr>
        <p:spPr>
          <a:xfrm>
            <a:off x="3200400" y="1828800"/>
            <a:ext cx="2743200" cy="219456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</a:ln>
        </p:spPr>
      </p:sp>
      <!-- Card 2 Icon (Krankenfahrten) -->
      <p:pic>
        <p:nvPicPr>
          <p:cNvPr id="9" name="Card2Icon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3383280" y="1920240"/>
            <a:ext cx="457200" cy="457200"/>
          </a:xfrm>
          <a:prstGeom prst="rect">
            <a:avLst/>
          </a:prstGeom>
        </p:spPr>
      </p:pic>
      <!-- Card 2 Title -->
      <p:sp>
        <p:nvSpPr>
          <p:cNvPr id="10" name="Card2Title"/>
          <p:cNvSpPr/>
          <p:nvPr/>
        </p:nvSpPr>
        <p:spPr>
          <a:xfrm>
            <a:off x="32004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</a:rPr>
              <a:t>Krankenfahrten-Abo</a:t>
            </a:r>
          </a:p>
        </p:txBody>
      </p:sp>
      <!-- Card 2 Description -->
      <p:sp>
        <p:nvSpPr>
          <p:cNvPr id="11" name="Card2Desc"/>
          <p:cNvSpPr/>
          <p:nvPr/>
        </p:nvSpPr>
        <p:spPr>
          <a:xfrm>
            <a:off x="329184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  <a:latin typeface="Calibri Light" pitchFamily="34" charset="0"/>
              </a:rPr>
              <a:t>Monatliches Abo für Krankentransporte</a:t>
            </a:r>
          </a:p>
          <a:p>
            <a:pPr algn="ctr" indent="0" marL="0">
              <a:buNone/>
            </a:pPr>
            <a:r>
              <a:rPr lang="en-US" sz="1100" i="1" dirty="0">
                <a:solidFill>
                  <a:srgbClr val="C9963C"/>
                </a:solidFill>
                <a:latin typeface="Calibri Light" pitchFamily="34" charset="0"/>
              </a:rPr>
              <a:t>→ Planbare, wiederkehrende Umsätze</a:t>
            </a:r>
          </a:p>
        </p:txBody>
      </p:sp>
      <!-- CARD 3 Background -->
      <p:sp>
        <p:nvSpPr>
          <p:cNvPr id="12" name="Card3"/>
          <p:cNvSpPr/>
          <p:nvPr/>
        </p:nvSpPr>
        <p:spPr>
          <a:xfrm>
            <a:off x="6126480" y="1828800"/>
            <a:ext cx="2743200" cy="219456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</a:ln>
        </p:spPr>
      </p:sp>
      <!-- Card 3 Icon (Hygiene Boxen) -->
      <p:pic>
        <p:nvPicPr>
          <p:cNvPr id="13" name="Card3Icon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309360" y="1920240"/>
            <a:ext cx="457200" cy="457200"/>
          </a:xfrm>
          <a:prstGeom prst="rect">
            <a:avLst/>
          </a:prstGeom>
        </p:spPr>
      </p:pic>
      <!-- Card 3 Title -->
      <p:sp>
        <p:nvSpPr>
          <p:cNvPr id="14" name="Card3Title"/>
          <p:cNvSpPr/>
          <p:nvPr/>
        </p:nvSpPr>
        <p:spPr>
          <a:xfrm>
            <a:off x="61264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</a:rPr>
              <a:t>Hygiene Boxen</a:t>
            </a:r>
          </a:p>
        </p:txBody>
      </p:sp>
      <!-- Card 3 Description -->
      <p:sp>
        <p:nvSpPr>
          <p:cNvPr id="15" name="Card3Desc"/>
          <p:cNvSpPr/>
          <p:nvPr/>
        </p:nvSpPr>
        <p:spPr>
          <a:xfrm>
            <a:off x="6217920" y="2834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  <a:latin typeface="Calibri Light" pitchFamily="34" charset="0"/>
              </a:rPr>
              <a:t>Verkauf von Hygiene-Produktboxen an Pflegekunden</a:t>
            </a:r>
          </a:p>
          <a:p>
            <a:pPr algn="ctr" indent="0" marL="0">
              <a:buNone/>
            </a:pPr>
            <a:r>
              <a:rPr lang="en-US" sz="1100" i="1" dirty="0">
                <a:solidFill>
                  <a:srgbClr val="C9963C"/>
                </a:solidFill>
                <a:latin typeface="Calibri Light" pitchFamily="34" charset="0"/>
              </a:rPr>
              <a:t>→ Hohe Marge, wiederkehrend</a:t>
            </a:r>
          </a:p>
        </p:txBody>
      </p:sp>
      <!-- Bottom text -->
      <p:sp>
        <p:nvSpPr>
          <p:cNvPr id="16" name="BottomText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</a:rPr>
              <a:t>Engel arbeiten als Freiberufler · §45b Zuschuss nutzbar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&amp; TECHNOLOGIE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Eine App, zwei Welten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Patienten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Engel in Ihrer Nähe finden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Sofort buchen &amp; starten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§45b Zuschuss nutzen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Begleiter bewerten &amp; rezensieren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Engel (Dienstleister)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Profil erstellen &amp; zertifizieren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Anfragen automatisch verwalten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Verdienst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Premium Features freischalten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2EA"/>
                </a:solidFill>
              </a:rPr>
              <a:t>Technologie Stack: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Next.js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Vercel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Supabase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Web App (PWA)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WETTBEWERBSANALYSE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Klare Differenzierung im Markt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Kriterium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AlltagsEngel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Tradizionale Agenturen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Andere Plattformen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Digitale Buchung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14884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§45b 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51460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Qualitätssicherung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88036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953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Preistransparenz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324612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953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Bewertungssystem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08960" y="361188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521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TRAKTION &amp; MEILENSTEINE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Vom Konzept zur Marktreife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Q3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Konzept &amp; Marktvalidierung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Q4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MVP-Entwicklung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620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Q1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App Live – alltagsengel.care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74320" cy="274320"/>
          </a:xfrm>
          <a:prstGeom prst="ellipse">
            <a:avLst/>
          </a:prstGeom>
          <a:solidFill>
            <a:srgbClr val="8BC98A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Q2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17+ echte Nutzer 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Q3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500 Nutzer Ziel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Q1 2027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609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Expansion in 3 weitere Städte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Erfahrung trifft Leidenschaft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YD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Yusuf Ferhat Demir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Gründer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Strategie &amp; Vision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LL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Laura Leeman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Teamleiterin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Pflege &amp; Qualität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MY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7764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Mehmet Yilmaz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CTO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Technologie &amp; Produkt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SW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Sophie Weber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Marketing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Growth &amp; Kommunikation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AH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Anna Hoffmann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Assistenz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Kunden &amp; Operations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Profitabel ab Jahr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01168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17366"/>
            <a:ext cx="544068" cy="402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3657600"/>
            <a:ext cx="544068" cy="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3496666"/>
            <a:ext cx="544068" cy="1609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Shape 7"/>
          <p:cNvSpPr/>
          <p:nvPr/>
        </p:nvSpPr>
        <p:spPr>
          <a:xfrm>
            <a:off x="2875788" y="3640165"/>
            <a:ext cx="544068" cy="17435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3255264"/>
            <a:ext cx="544068" cy="40233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0268" y="3552993"/>
            <a:ext cx="544068" cy="104607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2852928"/>
            <a:ext cx="544068" cy="80467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4748" y="3416198"/>
            <a:ext cx="544068" cy="241402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2048256"/>
            <a:ext cx="544068" cy="160934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539228" y="3094330"/>
            <a:ext cx="544068" cy="56327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■ Umsatz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■ Nettogewinn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€33.5K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Monatliche Kosten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Jahr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Break-Even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724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€2,52M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Nettogewinn Y5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INVESTITIONSRUNDE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€500.000 Seed-Runde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63C"/>
                </a:solidFill>
              </a:rPr>
              <a:t>€500K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€200K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Team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Recruiting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€150K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Marketing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Technologie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Betrieb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Reserve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Die Zukunft der Alltagsbegleitung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Jeder Mensch verdient einen Engel an seiner Seite.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10.000+ aktive Nutzer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Marktführer in 5 Bundesländern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Europaweite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3200400" cy="32004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63C"/>
                </a:solidFill>
              </a:rPr>
              <a:t>Lassen Sie uns gemeinsam die Pflege revolutionieren.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Yusuf Ferhat Demir · Gründer &amp; CEO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info@alltagsengel.care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www.alltagsengel.care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Schiller Str. 31, 60313 Frankfurt am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931920"/>
            <a:ext cx="3657600" cy="548640"/>
          </a:xfrm>
          <a:prstGeom prst="roundRect">
            <a:avLst>
              <a:gd name="adj" fmla="val 2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GESPRÄCH VEREINBAREN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Detaillierte Finanzübersicht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Jahr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Umsatz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€180K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€720K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€1,8M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€3,6M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€7,2M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42316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Kosten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8308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€402K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€642K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€1,33M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5236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€4,68M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74320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EBITDA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8308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06324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Nettogewinn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8308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3504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3832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Marge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78308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-123%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11%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26%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3504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8076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5236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8C7C"/>
                </a:solidFill>
              </a:rPr>
              <a:t>Alle Werte in EUR. Prognose basiert auf konservativen Annahmen und 18% Provision + €9,99 Premium pro Engel.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2026-03-02T02:48:36Z</dcterms:created>
  <dcterms:modified xsi:type="dcterms:W3CDTF">2026-03-02T02:48:36Z</dcterms:modified>
</cp:coreProperties>
</file>