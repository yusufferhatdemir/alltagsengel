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3657600" cy="3657600"/>
          </a:xfrm>
          <a:prstGeom prst="ellipse">
            <a:avLst/>
          </a:prstGeom>
          <a:solidFill>
            <a:srgbClr val="332E24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457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9963C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612"/>
                </a:solidFill>
              </a:rPr>
              <a:t>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spc="600" kern="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ALLTAGSENGEL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9963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Mit Herz für dich da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A8C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Premium Alltagsbegleitung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365760" cy="4572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3C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2186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8C7C"/>
                </a:solidFill>
              </a:rPr>
              <a:t>100% Versichert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32004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963C"/>
                </a:solidFill>
              </a:rPr>
              <a:t>|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3C"/>
                </a:solidFill>
              </a:rPr>
              <a:t>§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32186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8C7C"/>
                </a:solidFill>
              </a:rPr>
              <a:t>§45b Integriert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32004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963C"/>
                </a:solidFill>
              </a:rPr>
              <a:t>|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0" y="3200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3C"/>
                </a:solidFill>
              </a:rPr>
              <a:t>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321868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8C7C"/>
                </a:solidFill>
              </a:rPr>
              <a:t>24/7 Verfügbar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A6E5E"/>
                </a:solidFill>
              </a:rPr>
              <a:t>Investor Pitch Deck · März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Der Pflegemarkt braucht</a:t>
            </a:r>
            <a:endParaRPr lang="en-US" sz="3200" dirty="0"/>
          </a:p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digitale Innovation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828800"/>
            <a:ext cx="2743200" cy="2011680"/>
          </a:xfrm>
          <a:prstGeom prst="roundRect">
            <a:avLst>
              <a:gd name="adj" fmla="val 6818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65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9963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€4,4B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2697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Ungenutzte Mittel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B8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€7,44B §45b Budget, nur 40% wird abgerufen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828800"/>
            <a:ext cx="2743200" cy="2011680"/>
          </a:xfrm>
          <a:prstGeom prst="roundRect">
            <a:avLst>
              <a:gd name="adj" fmla="val 6818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1965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9963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⏱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00400" y="2697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Analoge Prozesse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30632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B8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Analoge Vermittlung, lange Wartezeiten, manuelles Matching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2743200" cy="2011680"/>
          </a:xfrm>
          <a:prstGeom prst="roundRect">
            <a:avLst>
              <a:gd name="adj" fmla="val 6818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1965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9963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⚠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126480" y="2697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Qualitätsmangel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30632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B8A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Keine standardisierte Qualitätssicherung, Vertrauensdefizit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UNSERE LÖSUNG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AlltagsEngel — Die Plattform</a:t>
            </a:r>
            <a:endParaRPr lang="en-US" sz="3200" dirty="0"/>
          </a:p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für Alltagsbegleitung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365760" cy="36576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612"/>
                </a:solidFill>
              </a:rPr>
              <a:t>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920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2EA"/>
                </a:solidFill>
              </a:rPr>
              <a:t>Sofortige Vermittlung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1762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C7C"/>
                </a:solidFill>
              </a:rPr>
              <a:t>Zertifizierte Begleiter in Ihrer Nähe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365760" cy="36576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612"/>
                </a:solidFill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7889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2EA"/>
                </a:solidFill>
              </a:rPr>
              <a:t>§45b Integration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044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C7C"/>
                </a:solidFill>
              </a:rPr>
              <a:t>Direkte Abrechnung mit Pflegekassen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365760" cy="36576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612"/>
                </a:solidFill>
              </a:rPr>
              <a:t>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3657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F2EA"/>
                </a:solidFill>
              </a:rPr>
              <a:t>Qualitätsgarantie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9136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8C7C"/>
                </a:solidFill>
              </a:rPr>
              <a:t>Geprüfte &amp; bewertete Alltagsengel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828800"/>
            <a:ext cx="3931920" cy="2743200"/>
          </a:xfrm>
          <a:prstGeom prst="roundRect">
            <a:avLst>
              <a:gd name="adj" fmla="val 5000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3C"/>
                </a:solidFill>
              </a:rPr>
              <a:t>App Interface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29200" y="2560320"/>
            <a:ext cx="3474720" cy="457200"/>
          </a:xfrm>
          <a:prstGeom prst="rect">
            <a:avLst/>
          </a:prstGeom>
          <a:solidFill>
            <a:srgbClr val="332E24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2606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B8A8"/>
                </a:solidFill>
              </a:rPr>
              <a:t>Engel in Ihrer Nähe finden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3200400"/>
            <a:ext cx="3474720" cy="457200"/>
          </a:xfrm>
          <a:prstGeom prst="rect">
            <a:avLst/>
          </a:prstGeom>
          <a:solidFill>
            <a:srgbClr val="332E24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B8A8"/>
                </a:solidFill>
              </a:rPr>
              <a:t>§45b Zuschuss automatisch abrechnen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3794760"/>
            <a:ext cx="3474720" cy="457200"/>
          </a:xfrm>
          <a:prstGeom prst="rect">
            <a:avLst/>
          </a:prstGeom>
          <a:solidFill>
            <a:srgbClr val="332E24"/>
          </a:solidFill>
          <a:ln/>
        </p:spPr>
      </p:sp>
      <p:sp>
        <p:nvSpPr>
          <p:cNvPr id="23" name="Text 21"/>
          <p:cNvSpPr/>
          <p:nvPr/>
        </p:nvSpPr>
        <p:spPr>
          <a:xfrm>
            <a:off x="5212080" y="3840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B8A8"/>
                </a:solidFill>
              </a:rPr>
              <a:t>Begleiter bewerten &amp; überprüfen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MARKTCHANCE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Ein Markt mit €50 Mrd.+ Potenzial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73736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74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A8C7C"/>
                </a:solidFill>
              </a:rPr>
              <a:t>TAM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963C"/>
                </a:solidFill>
              </a:rPr>
              <a:t>€50B+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8A8"/>
                </a:solidFill>
              </a:rPr>
              <a:t>Deutscher Pflegemarkt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73736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874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A8C7C"/>
                </a:solidFill>
              </a:rPr>
              <a:t>SAM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2148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963C"/>
                </a:solidFill>
              </a:rPr>
              <a:t>€7,44B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38328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8A8"/>
                </a:solidFill>
              </a:rPr>
              <a:t>§45b jährliches Budget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737360"/>
            <a:ext cx="2560320" cy="1463040"/>
          </a:xfrm>
          <a:prstGeom prst="roundRect">
            <a:avLst>
              <a:gd name="adj" fmla="val 9375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874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9A8C7C"/>
                </a:solidFill>
              </a:rPr>
              <a:t>SOM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2148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963C"/>
                </a:solidFill>
              </a:rPr>
              <a:t>€150M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21792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8A8"/>
                </a:solidFill>
              </a:rPr>
              <a:t>5-Jahres Ziel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33832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A8C7C"/>
                </a:solidFill>
              </a:rPr>
              <a:t>4,96 Mio. Pflegebedürftige in Deutschland · Tendenz steigend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114800"/>
            <a:ext cx="457200" cy="27432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45262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7C"/>
                </a:solidFill>
              </a:rPr>
              <a:t>2024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194560" y="3840480"/>
            <a:ext cx="457200" cy="54864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20" name="Text 18"/>
          <p:cNvSpPr/>
          <p:nvPr/>
        </p:nvSpPr>
        <p:spPr>
          <a:xfrm>
            <a:off x="2057400" y="45262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7C"/>
                </a:solidFill>
              </a:rPr>
              <a:t>2025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86200" y="3566160"/>
            <a:ext cx="457200" cy="82296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22" name="Text 20"/>
          <p:cNvSpPr/>
          <p:nvPr/>
        </p:nvSpPr>
        <p:spPr>
          <a:xfrm>
            <a:off x="3749040" y="45262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7C"/>
                </a:solidFill>
              </a:rPr>
              <a:t>2026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577840" y="3291840"/>
            <a:ext cx="457200" cy="109728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24" name="Text 22"/>
          <p:cNvSpPr/>
          <p:nvPr/>
        </p:nvSpPr>
        <p:spPr>
          <a:xfrm>
            <a:off x="5440680" y="45262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7C"/>
                </a:solidFill>
              </a:rPr>
              <a:t>2027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269480" y="3017520"/>
            <a:ext cx="457200" cy="1371600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0" y="45262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7C"/>
                </a:solidFill>
              </a:rPr>
              <a:t>2028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GESCHÄFTSMODELL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Zwei Einnahmequellen,</a:t>
            </a:r>
            <a:endParaRPr lang="en-US" sz="3200" dirty="0"/>
          </a:p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starke Unit Economics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828800"/>
            <a:ext cx="4023360" cy="2194560"/>
          </a:xfrm>
          <a:prstGeom prst="roundRect">
            <a:avLst>
              <a:gd name="adj" fmla="val 6250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7F2EA"/>
                </a:solidFill>
              </a:rPr>
              <a:t>18% Provision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3657600" cy="18288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560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B8A8"/>
                </a:solidFill>
              </a:rPr>
              <a:t>Pro Buchung abgerechnet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8C7C"/>
                </a:solidFill>
              </a:rPr>
              <a:t>Ø €40 Buchungswert = €7,20 Provision pro Vermittlung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9963C"/>
                </a:solidFill>
              </a:rPr>
              <a:t>→ Skaliert mit Plattformwachstum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828800"/>
            <a:ext cx="4023360" cy="2194560"/>
          </a:xfrm>
          <a:prstGeom prst="roundRect">
            <a:avLst>
              <a:gd name="adj" fmla="val 6250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7F2EA"/>
                </a:solidFill>
              </a:rPr>
              <a:t>€9,99/Monat Premium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0" y="2377440"/>
            <a:ext cx="3657600" cy="18288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560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4B8A8"/>
                </a:solidFill>
              </a:rPr>
              <a:t>Für zertifizierte Engel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2880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A8C7C"/>
                </a:solidFill>
              </a:rPr>
              <a:t>Erweiterte Funktionen, Profilverifizierung, Versicherungsschutz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9963C"/>
                </a:solidFill>
              </a:rPr>
              <a:t>→ Starke Retention &amp; Upsell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42062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63C"/>
                </a:solidFill>
              </a:rPr>
              <a:t>Ø €125/Monat pro Kunde durch §45b Zuschuss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 &amp; TECHNOLOGIE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Eine App, zwei Welten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828800"/>
            <a:ext cx="4023360" cy="2286000"/>
          </a:xfrm>
          <a:prstGeom prst="roundRect">
            <a:avLst>
              <a:gd name="adj" fmla="val 6000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963C"/>
                </a:solidFill>
              </a:rPr>
              <a:t>Für Patienten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B882"/>
                </a:solidFill>
              </a:rPr>
              <a:t>✓ Engel in Ihrer Nähe finden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B882"/>
                </a:solidFill>
              </a:rPr>
              <a:t>✓ Sofort buchen &amp; starten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B882"/>
                </a:solidFill>
              </a:rPr>
              <a:t>✓ §45b Zuschuss nutzen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B882"/>
                </a:solidFill>
              </a:rPr>
              <a:t>✓ Begleiter bewerten &amp; rezensieren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828800"/>
            <a:ext cx="4023360" cy="2286000"/>
          </a:xfrm>
          <a:prstGeom prst="roundRect">
            <a:avLst>
              <a:gd name="adj" fmla="val 6000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9963C"/>
                </a:solidFill>
              </a:rPr>
              <a:t>Für Engel (Dienstleister)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212080" y="24231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B882"/>
                </a:solidFill>
              </a:rPr>
              <a:t>✓ Profil erstellen &amp; zertifizieren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0" y="27432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B882"/>
                </a:solidFill>
              </a:rPr>
              <a:t>✓ Anfragen automatisch verwalten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30632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B882"/>
                </a:solidFill>
              </a:rPr>
              <a:t>✓ Verdienst tracking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33832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B882"/>
                </a:solidFill>
              </a:rPr>
              <a:t>✓ Premium Features freischalten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42976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F2EA"/>
                </a:solidFill>
              </a:rPr>
              <a:t>Technologie Stack: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617720"/>
            <a:ext cx="1920240" cy="320040"/>
          </a:xfrm>
          <a:prstGeom prst="roundRect">
            <a:avLst>
              <a:gd name="adj" fmla="val 42857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4617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63C"/>
                </a:solidFill>
              </a:rPr>
              <a:t>Next.js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423160" y="4617720"/>
            <a:ext cx="1920240" cy="320040"/>
          </a:xfrm>
          <a:prstGeom prst="roundRect">
            <a:avLst>
              <a:gd name="adj" fmla="val 42857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23160" y="4617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63C"/>
                </a:solidFill>
              </a:rPr>
              <a:t>Vercel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4617720"/>
            <a:ext cx="1920240" cy="320040"/>
          </a:xfrm>
          <a:prstGeom prst="roundRect">
            <a:avLst>
              <a:gd name="adj" fmla="val 42857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0" y="4617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63C"/>
                </a:solidFill>
              </a:rPr>
              <a:t>Supabase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20840" y="4617720"/>
            <a:ext cx="1920240" cy="320040"/>
          </a:xfrm>
          <a:prstGeom prst="roundRect">
            <a:avLst>
              <a:gd name="adj" fmla="val 42857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20840" y="4617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63C"/>
                </a:solidFill>
              </a:rPr>
              <a:t>Web App (PWA)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WETTBEWERBSANALYSE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Klare Differenzierung im Markt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783080"/>
            <a:ext cx="2743200" cy="365760"/>
          </a:xfrm>
          <a:prstGeom prst="rect">
            <a:avLst/>
          </a:prstGeom>
          <a:solidFill>
            <a:srgbClr val="443C2E"/>
          </a:solidFill>
          <a:ln w="12700">
            <a:solidFill>
              <a:srgbClr val="C996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Kriterium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108960" y="1783080"/>
            <a:ext cx="2743200" cy="365760"/>
          </a:xfrm>
          <a:prstGeom prst="rect">
            <a:avLst/>
          </a:prstGeom>
          <a:solidFill>
            <a:srgbClr val="443C2E"/>
          </a:solidFill>
          <a:ln w="12700">
            <a:solidFill>
              <a:srgbClr val="C996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828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AlltagsEngel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852160" y="1783080"/>
            <a:ext cx="2743200" cy="365760"/>
          </a:xfrm>
          <a:prstGeom prst="rect">
            <a:avLst/>
          </a:prstGeom>
          <a:solidFill>
            <a:srgbClr val="443C2E"/>
          </a:solidFill>
          <a:ln w="12700">
            <a:solidFill>
              <a:srgbClr val="C996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0" y="1828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Tradizionale Agenturen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595360" y="1783080"/>
            <a:ext cx="2743200" cy="365760"/>
          </a:xfrm>
          <a:prstGeom prst="rect">
            <a:avLst/>
          </a:prstGeom>
          <a:solidFill>
            <a:srgbClr val="443C2E"/>
          </a:solidFill>
          <a:ln w="12700">
            <a:solidFill>
              <a:srgbClr val="C996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0" y="1828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Andere Plattformen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7C"/>
                </a:solidFill>
              </a:rPr>
              <a:t>Digitale Buchung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08960" y="2148840"/>
            <a:ext cx="2743200" cy="36576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B882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52160" y="214884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4B3B"/>
                </a:solidFill>
              </a:rPr>
              <a:t>✗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95360" y="214884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7C"/>
                </a:solidFill>
              </a:rPr>
              <a:t>◐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51460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560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7C"/>
                </a:solidFill>
              </a:rPr>
              <a:t>§45b Integration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08960" y="2514600"/>
            <a:ext cx="2743200" cy="36576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2560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B882"/>
                </a:solidFill>
              </a:rPr>
              <a:t>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52160" y="251460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2560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4B3B"/>
                </a:solidFill>
              </a:rPr>
              <a:t>✗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95360" y="251460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0" y="2560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4B3B"/>
                </a:solidFill>
              </a:rPr>
              <a:t>✗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88036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7C"/>
                </a:solidFill>
              </a:rPr>
              <a:t>Qualitätssicherung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08960" y="2880360"/>
            <a:ext cx="2743200" cy="36576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B882"/>
                </a:solidFill>
              </a:rPr>
              <a:t>✓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852160" y="288036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B882"/>
                </a:solidFill>
              </a:rPr>
              <a:t>✓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595360" y="288036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7C"/>
                </a:solidFill>
              </a:rPr>
              <a:t>◐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324612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291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7C"/>
                </a:solidFill>
              </a:rPr>
              <a:t>Preistransparenz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108960" y="3246120"/>
            <a:ext cx="2743200" cy="36576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0" y="3291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B882"/>
                </a:solidFill>
              </a:rPr>
              <a:t>✓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852160" y="324612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0" y="3291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4B3B"/>
                </a:solidFill>
              </a:rPr>
              <a:t>✗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595360" y="324612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0" y="32918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B882"/>
                </a:solidFill>
              </a:rPr>
              <a:t>✓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361188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8C7C"/>
                </a:solidFill>
              </a:rPr>
              <a:t>Bewertungssystem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108960" y="3611880"/>
            <a:ext cx="2743200" cy="36576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B882"/>
                </a:solidFill>
              </a:rPr>
              <a:t>✓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852160" y="361188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4B3B"/>
                </a:solidFill>
              </a:rPr>
              <a:t>✗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595360" y="3611880"/>
            <a:ext cx="2743200" cy="36576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86800" y="3657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B882"/>
                </a:solidFill>
              </a:rPr>
              <a:t>✓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TRAKTION &amp; MEILENSTEINE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Vom Konzept zur Marktreife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274320" cy="274320"/>
          </a:xfrm>
          <a:prstGeom prst="ellipse">
            <a:avLst/>
          </a:prstGeom>
          <a:solidFill>
            <a:srgbClr val="5CB882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2039112"/>
            <a:ext cx="777240" cy="36576"/>
          </a:xfrm>
          <a:prstGeom prst="rect">
            <a:avLst/>
          </a:prstGeom>
          <a:solidFill>
            <a:srgbClr val="443C2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331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CB882"/>
                </a:solidFill>
              </a:rPr>
              <a:t>Q3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8A8"/>
                </a:solidFill>
              </a:rPr>
              <a:t>Konzept &amp; Marktvalidierung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94560" y="1920240"/>
            <a:ext cx="274320" cy="274320"/>
          </a:xfrm>
          <a:prstGeom prst="ellipse">
            <a:avLst/>
          </a:prstGeom>
          <a:solidFill>
            <a:srgbClr val="5CB882"/>
          </a:solidFill>
          <a:ln/>
        </p:spPr>
      </p:sp>
      <p:sp>
        <p:nvSpPr>
          <p:cNvPr id="9" name="Shape 7"/>
          <p:cNvSpPr/>
          <p:nvPr/>
        </p:nvSpPr>
        <p:spPr>
          <a:xfrm>
            <a:off x="2468880" y="2039112"/>
            <a:ext cx="777240" cy="36576"/>
          </a:xfrm>
          <a:prstGeom prst="rect">
            <a:avLst/>
          </a:prstGeom>
          <a:solidFill>
            <a:srgbClr val="443C2E"/>
          </a:solidFill>
          <a:ln/>
        </p:spPr>
      </p:sp>
      <p:sp>
        <p:nvSpPr>
          <p:cNvPr id="10" name="Text 8"/>
          <p:cNvSpPr/>
          <p:nvPr/>
        </p:nvSpPr>
        <p:spPr>
          <a:xfrm>
            <a:off x="1783080" y="2331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CB882"/>
                </a:solidFill>
              </a:rPr>
              <a:t>Q4 2025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9164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8A8"/>
                </a:solidFill>
              </a:rPr>
              <a:t>MVP-Entwicklung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11880" y="1920240"/>
            <a:ext cx="274320" cy="274320"/>
          </a:xfrm>
          <a:prstGeom prst="ellipse">
            <a:avLst/>
          </a:prstGeom>
          <a:solidFill>
            <a:srgbClr val="5CB882"/>
          </a:solidFill>
          <a:ln/>
        </p:spPr>
      </p:sp>
      <p:sp>
        <p:nvSpPr>
          <p:cNvPr id="13" name="Shape 11"/>
          <p:cNvSpPr/>
          <p:nvPr/>
        </p:nvSpPr>
        <p:spPr>
          <a:xfrm>
            <a:off x="3886200" y="2039112"/>
            <a:ext cx="777240" cy="36576"/>
          </a:xfrm>
          <a:prstGeom prst="rect">
            <a:avLst/>
          </a:prstGeom>
          <a:solidFill>
            <a:srgbClr val="443C2E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2331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CB882"/>
                </a:solidFill>
              </a:rPr>
              <a:t>Q1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0896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8A8"/>
                </a:solidFill>
              </a:rPr>
              <a:t>App Live – alltagsengel.care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0" y="1920240"/>
            <a:ext cx="274320" cy="27432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0" y="2039112"/>
            <a:ext cx="777240" cy="36576"/>
          </a:xfrm>
          <a:prstGeom prst="rect">
            <a:avLst/>
          </a:prstGeom>
          <a:solidFill>
            <a:srgbClr val="443C2E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2331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963C"/>
                </a:solidFill>
              </a:rPr>
              <a:t>Q2 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2628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8A8"/>
                </a:solidFill>
              </a:rPr>
              <a:t>Erste echte Nutzer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46520" y="1920240"/>
            <a:ext cx="274320" cy="27432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21" name="Shape 19"/>
          <p:cNvSpPr/>
          <p:nvPr/>
        </p:nvSpPr>
        <p:spPr>
          <a:xfrm>
            <a:off x="6720840" y="2039112"/>
            <a:ext cx="777240" cy="36576"/>
          </a:xfrm>
          <a:prstGeom prst="rect">
            <a:avLst/>
          </a:prstGeom>
          <a:solidFill>
            <a:srgbClr val="443C2E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2331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963C"/>
                </a:solidFill>
              </a:rPr>
              <a:t>Q3 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8A8"/>
                </a:solidFill>
              </a:rPr>
              <a:t>500 Nutzer Ziel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863840" y="1920240"/>
            <a:ext cx="274320" cy="27432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25" name="Text 23"/>
          <p:cNvSpPr/>
          <p:nvPr/>
        </p:nvSpPr>
        <p:spPr>
          <a:xfrm>
            <a:off x="7452360" y="2331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963C"/>
                </a:solidFill>
              </a:rPr>
              <a:t>Q1 2027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360920" y="2606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B8A8"/>
                </a:solidFill>
              </a:rPr>
              <a:t>Expansion in 3 weitere Städte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 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Erfahrung trifft Leidenschaft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828800"/>
            <a:ext cx="1691640" cy="2286000"/>
          </a:xfrm>
          <a:prstGeom prst="roundRect">
            <a:avLst>
              <a:gd name="adj" fmla="val 8108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11680"/>
            <a:ext cx="1051560" cy="105156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612"/>
                </a:solidFill>
              </a:rPr>
              <a:t>YD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32461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2EA"/>
                </a:solidFill>
              </a:rPr>
              <a:t>Yusuf Ferhat Demir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356616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963C"/>
                </a:solidFill>
              </a:rPr>
              <a:t>Gründer &amp; CEO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37947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C7C"/>
                </a:solidFill>
              </a:rPr>
              <a:t>Strategie &amp; Vision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03120" y="1828800"/>
            <a:ext cx="1691640" cy="2286000"/>
          </a:xfrm>
          <a:prstGeom prst="roundRect">
            <a:avLst>
              <a:gd name="adj" fmla="val 8108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2011680"/>
            <a:ext cx="1051560" cy="105156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2" name="Text 10"/>
          <p:cNvSpPr/>
          <p:nvPr/>
        </p:nvSpPr>
        <p:spPr>
          <a:xfrm>
            <a:off x="2423160" y="20116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612"/>
                </a:solidFill>
              </a:rPr>
              <a:t>LL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194560" y="32461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2EA"/>
                </a:solidFill>
              </a:rPr>
              <a:t>Laura Leeman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94560" y="356616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963C"/>
                </a:solidFill>
              </a:rPr>
              <a:t>Teamleiterin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94560" y="37947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C7C"/>
                </a:solidFill>
              </a:rPr>
              <a:t>Pflege &amp; Qualität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86200" y="1828800"/>
            <a:ext cx="1691640" cy="2286000"/>
          </a:xfrm>
          <a:prstGeom prst="roundRect">
            <a:avLst>
              <a:gd name="adj" fmla="val 8108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06240" y="2011680"/>
            <a:ext cx="1051560" cy="105156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0" y="20116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612"/>
                </a:solidFill>
              </a:rPr>
              <a:t>MY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977640" y="32461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2EA"/>
                </a:solidFill>
              </a:rPr>
              <a:t>Mehmet Yilmaz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77640" y="356616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963C"/>
                </a:solidFill>
              </a:rPr>
              <a:t>CTO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977640" y="37947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C7C"/>
                </a:solidFill>
              </a:rPr>
              <a:t>Technologie &amp; Produkt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669280" y="1828800"/>
            <a:ext cx="1691640" cy="2286000"/>
          </a:xfrm>
          <a:prstGeom prst="roundRect">
            <a:avLst>
              <a:gd name="adj" fmla="val 8108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89320" y="2011680"/>
            <a:ext cx="1051560" cy="105156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24" name="Text 22"/>
          <p:cNvSpPr/>
          <p:nvPr/>
        </p:nvSpPr>
        <p:spPr>
          <a:xfrm>
            <a:off x="5989320" y="20116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612"/>
                </a:solidFill>
              </a:rPr>
              <a:t>SW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760720" y="32461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2EA"/>
                </a:solidFill>
              </a:rPr>
              <a:t>Sophie Weber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60720" y="356616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963C"/>
                </a:solidFill>
              </a:rPr>
              <a:t>Marketing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60720" y="37947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C7C"/>
                </a:solidFill>
              </a:rPr>
              <a:t>Growth &amp; Kommunikation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452360" y="1828800"/>
            <a:ext cx="1691640" cy="2286000"/>
          </a:xfrm>
          <a:prstGeom prst="roundRect">
            <a:avLst>
              <a:gd name="adj" fmla="val 8108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72400" y="2011680"/>
            <a:ext cx="1051560" cy="1051560"/>
          </a:xfrm>
          <a:prstGeom prst="ellipse">
            <a:avLst/>
          </a:prstGeom>
          <a:solidFill>
            <a:srgbClr val="C9963C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0" y="201168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612"/>
                </a:solidFill>
              </a:rPr>
              <a:t>AH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543800" y="324612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2EA"/>
                </a:solidFill>
              </a:rPr>
              <a:t>Anna Hoffmann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43800" y="356616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963C"/>
                </a:solidFill>
              </a:rPr>
              <a:t>Assistenz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43800" y="37947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C7C"/>
                </a:solidFill>
              </a:rPr>
              <a:t>Kunden &amp; Operations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Profitabel ab Jahr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8229600" cy="201168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3617366"/>
            <a:ext cx="544068" cy="40234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6" name="Shape 4"/>
          <p:cNvSpPr/>
          <p:nvPr/>
        </p:nvSpPr>
        <p:spPr>
          <a:xfrm>
            <a:off x="1321308" y="3657600"/>
            <a:ext cx="544068" cy="0"/>
          </a:xfrm>
          <a:prstGeom prst="rect">
            <a:avLst/>
          </a:prstGeom>
          <a:solidFill>
            <a:srgbClr val="5CB8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886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7C"/>
                </a:solidFill>
              </a:rPr>
              <a:t>2024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0" y="3496666"/>
            <a:ext cx="544068" cy="160934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9" name="Shape 7"/>
          <p:cNvSpPr/>
          <p:nvPr/>
        </p:nvSpPr>
        <p:spPr>
          <a:xfrm>
            <a:off x="2875788" y="3640165"/>
            <a:ext cx="544068" cy="17435"/>
          </a:xfrm>
          <a:prstGeom prst="rect">
            <a:avLst/>
          </a:prstGeom>
          <a:solidFill>
            <a:srgbClr val="5CB882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3886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7C"/>
                </a:solidFill>
              </a:rPr>
              <a:t>2025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0" y="3255264"/>
            <a:ext cx="544068" cy="402336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2" name="Shape 10"/>
          <p:cNvSpPr/>
          <p:nvPr/>
        </p:nvSpPr>
        <p:spPr>
          <a:xfrm>
            <a:off x="4430268" y="3552993"/>
            <a:ext cx="544068" cy="104607"/>
          </a:xfrm>
          <a:prstGeom prst="rect">
            <a:avLst/>
          </a:prstGeom>
          <a:solidFill>
            <a:srgbClr val="5CB882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3886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7C"/>
                </a:solidFill>
              </a:rPr>
              <a:t>2026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94960" y="2852928"/>
            <a:ext cx="544068" cy="804672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5" name="Shape 13"/>
          <p:cNvSpPr/>
          <p:nvPr/>
        </p:nvSpPr>
        <p:spPr>
          <a:xfrm>
            <a:off x="5984748" y="3416198"/>
            <a:ext cx="544068" cy="241402"/>
          </a:xfrm>
          <a:prstGeom prst="rect">
            <a:avLst/>
          </a:prstGeom>
          <a:solidFill>
            <a:srgbClr val="5CB882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3886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7C"/>
                </a:solidFill>
              </a:rPr>
              <a:t>2027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49440" y="2048256"/>
            <a:ext cx="544068" cy="1609344"/>
          </a:xfrm>
          <a:prstGeom prst="rect">
            <a:avLst/>
          </a:prstGeom>
          <a:solidFill>
            <a:srgbClr val="C9963C"/>
          </a:solidFill>
          <a:ln/>
        </p:spPr>
      </p:sp>
      <p:sp>
        <p:nvSpPr>
          <p:cNvPr id="18" name="Shape 16"/>
          <p:cNvSpPr/>
          <p:nvPr/>
        </p:nvSpPr>
        <p:spPr>
          <a:xfrm>
            <a:off x="7539228" y="3094330"/>
            <a:ext cx="544068" cy="563270"/>
          </a:xfrm>
          <a:prstGeom prst="rect">
            <a:avLst/>
          </a:prstGeom>
          <a:solidFill>
            <a:srgbClr val="5CB882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3886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C7C"/>
                </a:solidFill>
              </a:rPr>
              <a:t>2028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4069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963C"/>
                </a:solidFill>
              </a:rPr>
              <a:t>■ Umsatz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68880" y="4069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B882"/>
                </a:solidFill>
              </a:rPr>
              <a:t>■ Nettogewinn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0" y="3931920"/>
            <a:ext cx="1280160" cy="822960"/>
          </a:xfrm>
          <a:prstGeom prst="roundRect">
            <a:avLst>
              <a:gd name="adj" fmla="val 16667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74920" y="3977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63C"/>
                </a:solidFill>
              </a:rPr>
              <a:t>€33.5K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74920" y="42062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C7C"/>
                </a:solidFill>
              </a:rPr>
              <a:t>Monatliche Kosten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00800" y="3931920"/>
            <a:ext cx="1280160" cy="822960"/>
          </a:xfrm>
          <a:prstGeom prst="roundRect">
            <a:avLst>
              <a:gd name="adj" fmla="val 16667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46520" y="3977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63C"/>
                </a:solidFill>
              </a:rPr>
              <a:t>Jahr 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46520" y="42062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C7C"/>
                </a:solidFill>
              </a:rPr>
              <a:t>Break-Even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772400" y="3931920"/>
            <a:ext cx="1280160" cy="822960"/>
          </a:xfrm>
          <a:prstGeom prst="roundRect">
            <a:avLst>
              <a:gd name="adj" fmla="val 16667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818120" y="3977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63C"/>
                </a:solidFill>
              </a:rPr>
              <a:t>€2,52M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818120" y="42062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C7C"/>
                </a:solidFill>
              </a:rPr>
              <a:t>Nettogewinn Y5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INVESTITIONSRUNDE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€500.000 Seed-Runde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0" y="1645920"/>
            <a:ext cx="2743200" cy="1097280"/>
          </a:xfrm>
          <a:prstGeom prst="roundRect">
            <a:avLst>
              <a:gd name="adj" fmla="val 12500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17373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963C"/>
                </a:solidFill>
              </a:rPr>
              <a:t>€500K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274320" y="3017520"/>
            <a:ext cx="2057400" cy="1554480"/>
          </a:xfrm>
          <a:prstGeom prst="roundRect">
            <a:avLst>
              <a:gd name="adj" fmla="val 8824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31546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3C"/>
                </a:solidFill>
              </a:rPr>
              <a:t>€200K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34747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B8A8"/>
                </a:solidFill>
              </a:rPr>
              <a:t>40%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38404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2EA"/>
                </a:solidFill>
              </a:rPr>
              <a:t>Team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7F2EA"/>
                </a:solidFill>
              </a:rPr>
              <a:t>Recruiting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3017520"/>
            <a:ext cx="2057400" cy="1554480"/>
          </a:xfrm>
          <a:prstGeom prst="roundRect">
            <a:avLst>
              <a:gd name="adj" fmla="val 8824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31546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3C"/>
                </a:solidFill>
              </a:rPr>
              <a:t>€150K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06040" y="34747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B8A8"/>
                </a:solidFill>
              </a:rPr>
              <a:t>30%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38404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2EA"/>
                </a:solidFill>
              </a:rPr>
              <a:t>Marketing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7F2EA"/>
                </a:solidFill>
              </a:rPr>
              <a:t>Growth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3017520"/>
            <a:ext cx="2057400" cy="1554480"/>
          </a:xfrm>
          <a:prstGeom prst="roundRect">
            <a:avLst>
              <a:gd name="adj" fmla="val 8824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31546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3C"/>
                </a:solidFill>
              </a:rPr>
              <a:t>€75K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34747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B8A8"/>
                </a:solidFill>
              </a:rPr>
              <a:t>15%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38404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2EA"/>
                </a:solidFill>
              </a:rPr>
              <a:t>Technologie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0" y="3017520"/>
            <a:ext cx="2057400" cy="1554480"/>
          </a:xfrm>
          <a:prstGeom prst="roundRect">
            <a:avLst>
              <a:gd name="adj" fmla="val 8824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95160" y="31546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3C"/>
                </a:solidFill>
              </a:rPr>
              <a:t>€75K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95160" y="34747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B8A8"/>
                </a:solidFill>
              </a:rPr>
              <a:t>15%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95160" y="384048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2EA"/>
                </a:solidFill>
              </a:rPr>
              <a:t>Betrieb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7F2EA"/>
                </a:solidFill>
              </a:rPr>
              <a:t>Reserve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UNSERE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Die Zukunft der Alltagsbegleitung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C9963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Jeder Mensch verdient einen Engel an seiner Seite.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2743200" cy="1371600"/>
          </a:xfrm>
          <a:prstGeom prst="roundRect">
            <a:avLst>
              <a:gd name="adj" fmla="val 10000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3C"/>
                </a:solidFill>
              </a:rPr>
              <a:t>2027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2EA"/>
                </a:solidFill>
              </a:rPr>
              <a:t>10.000+ aktive Nutzer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3017520"/>
            <a:ext cx="2743200" cy="1371600"/>
          </a:xfrm>
          <a:prstGeom prst="roundRect">
            <a:avLst>
              <a:gd name="adj" fmla="val 10000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3C"/>
                </a:solidFill>
              </a:rPr>
              <a:t>2028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66160" y="35204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2EA"/>
                </a:solidFill>
              </a:rPr>
              <a:t>Marktführer in 5 Bundesländern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3017520"/>
            <a:ext cx="2743200" cy="1371600"/>
          </a:xfrm>
          <a:prstGeom prst="roundRect">
            <a:avLst>
              <a:gd name="adj" fmla="val 10000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31546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3C"/>
                </a:solidFill>
              </a:rPr>
              <a:t>2030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352044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2EA"/>
                </a:solidFill>
              </a:rPr>
              <a:t>Europaweite Expansion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914400"/>
            <a:ext cx="3200400" cy="3200400"/>
          </a:xfrm>
          <a:prstGeom prst="ellipse">
            <a:avLst/>
          </a:prstGeom>
          <a:solidFill>
            <a:srgbClr val="332E24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spc="600" kern="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ALLTAGSENGEL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9963C"/>
                </a:solidFill>
              </a:rPr>
              <a:t>Lassen Sie uns gemeinsam die Pflege revolutionieren.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8A8"/>
                </a:solidFill>
              </a:rPr>
              <a:t>Yusuf Ferhat Demir · Gründer &amp; CEO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8A8"/>
                </a:solidFill>
              </a:rPr>
              <a:t>info@alltagsengel.care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8A8"/>
                </a:solidFill>
              </a:rPr>
              <a:t>www.alltagsengel.care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8A8"/>
                </a:solidFill>
              </a:rPr>
              <a:t>Schiller Str. 31, 60313 Frankfurt am Main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3931920"/>
            <a:ext cx="3657600" cy="548640"/>
          </a:xfrm>
          <a:prstGeom prst="roundRect">
            <a:avLst>
              <a:gd name="adj" fmla="val 25000"/>
            </a:avLst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3931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6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JETZT GESPRÄCH VEREINBAREN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7A6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ANHANG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7F2E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Detaillierte Finanzübersicht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783080"/>
            <a:ext cx="1417320" cy="320040"/>
          </a:xfrm>
          <a:prstGeom prst="rect">
            <a:avLst/>
          </a:prstGeom>
          <a:solidFill>
            <a:srgbClr val="443C2E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8013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Jahr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783080" y="1783080"/>
            <a:ext cx="1417320" cy="320040"/>
          </a:xfrm>
          <a:prstGeom prst="rect">
            <a:avLst/>
          </a:prstGeom>
          <a:solidFill>
            <a:srgbClr val="443C2E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18013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Y1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783080"/>
            <a:ext cx="1417320" cy="320040"/>
          </a:xfrm>
          <a:prstGeom prst="rect">
            <a:avLst/>
          </a:prstGeom>
          <a:solidFill>
            <a:srgbClr val="443C2E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8013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Y2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783080"/>
            <a:ext cx="1417320" cy="320040"/>
          </a:xfrm>
          <a:prstGeom prst="rect">
            <a:avLst/>
          </a:prstGeom>
          <a:solidFill>
            <a:srgbClr val="443C2E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8013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Y3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783080"/>
            <a:ext cx="1417320" cy="320040"/>
          </a:xfrm>
          <a:prstGeom prst="rect">
            <a:avLst/>
          </a:prstGeom>
          <a:solidFill>
            <a:srgbClr val="443C2E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8013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Y4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52360" y="1783080"/>
            <a:ext cx="1417320" cy="320040"/>
          </a:xfrm>
          <a:prstGeom prst="rect">
            <a:avLst/>
          </a:prstGeom>
          <a:solidFill>
            <a:srgbClr val="443C2E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18013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Y5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103120"/>
            <a:ext cx="1417320" cy="320040"/>
          </a:xfrm>
          <a:prstGeom prst="rect">
            <a:avLst/>
          </a:prstGeom>
          <a:solidFill>
            <a:srgbClr val="443C2E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12140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Umsatz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783080" y="210312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212140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€180K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10312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212140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€720K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210312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12140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€1,8M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210312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212140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€3,6M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52360" y="210312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212140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€7,2M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423160"/>
            <a:ext cx="1417320" cy="320040"/>
          </a:xfrm>
          <a:prstGeom prst="rect">
            <a:avLst/>
          </a:prstGeom>
          <a:solidFill>
            <a:srgbClr val="443C2E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44144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Kosten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783080" y="2423160"/>
            <a:ext cx="1417320" cy="32004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0" y="244144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€402K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2423160"/>
            <a:ext cx="1417320" cy="32004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244144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€642K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17720" y="2423160"/>
            <a:ext cx="1417320" cy="32004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44144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€1,33M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35040" y="2423160"/>
            <a:ext cx="1417320" cy="32004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80760" y="244144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€2,52M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452360" y="2423160"/>
            <a:ext cx="1417320" cy="32004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0" y="244144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€4,68M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2743200"/>
            <a:ext cx="1417320" cy="320040"/>
          </a:xfrm>
          <a:prstGeom prst="rect">
            <a:avLst/>
          </a:prstGeom>
          <a:solidFill>
            <a:srgbClr val="443C2E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276148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EBITDA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783080" y="274320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0" y="276148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-€222K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0" y="274320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46120" y="276148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€78K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17720" y="274320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276148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€468K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035040" y="274320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80760" y="276148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€1,08M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452360" y="274320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98080" y="276148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€2,52M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65760" y="3063240"/>
            <a:ext cx="1417320" cy="320040"/>
          </a:xfrm>
          <a:prstGeom prst="rect">
            <a:avLst/>
          </a:prstGeom>
          <a:solidFill>
            <a:srgbClr val="443C2E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08152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Nettogewinn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783080" y="3063240"/>
            <a:ext cx="1417320" cy="32004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28800" y="308152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-€222K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200400" y="3063240"/>
            <a:ext cx="1417320" cy="32004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46120" y="308152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€78K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617720" y="3063240"/>
            <a:ext cx="1417320" cy="32004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63440" y="308152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€468K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035040" y="3063240"/>
            <a:ext cx="1417320" cy="32004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080760" y="308152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€1,08M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452360" y="3063240"/>
            <a:ext cx="1417320" cy="320040"/>
          </a:xfrm>
          <a:prstGeom prst="rect">
            <a:avLst/>
          </a:prstGeom>
          <a:solidFill>
            <a:srgbClr val="252118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98080" y="308152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B8A8"/>
                </a:solidFill>
              </a:rPr>
              <a:t>€2,52M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65760" y="3383280"/>
            <a:ext cx="1417320" cy="320040"/>
          </a:xfrm>
          <a:prstGeom prst="rect">
            <a:avLst/>
          </a:prstGeom>
          <a:solidFill>
            <a:srgbClr val="443C2E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11480" y="34015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963C"/>
                </a:solidFill>
              </a:rPr>
              <a:t>Marge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783080" y="338328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28800" y="34015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963C"/>
                </a:solidFill>
              </a:rPr>
              <a:t>-123%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200400" y="338328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46120" y="34015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963C"/>
                </a:solidFill>
              </a:rPr>
              <a:t>11%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617720" y="338328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663440" y="34015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963C"/>
                </a:solidFill>
              </a:rPr>
              <a:t>26%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035040" y="338328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080760" y="34015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963C"/>
                </a:solidFill>
              </a:rPr>
              <a:t>30%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452360" y="3383280"/>
            <a:ext cx="1417320" cy="320040"/>
          </a:xfrm>
          <a:prstGeom prst="rect">
            <a:avLst/>
          </a:prstGeom>
          <a:solidFill>
            <a:srgbClr val="332E24"/>
          </a:solidFill>
          <a:ln w="12700">
            <a:solidFill>
              <a:srgbClr val="443C2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498080" y="3401568"/>
            <a:ext cx="13258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963C"/>
                </a:solidFill>
              </a:rPr>
              <a:t>35%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365760" y="43891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8C7C"/>
                </a:solidFill>
              </a:rPr>
              <a:t>Alle Werte in EUR. Prognose basiert auf konservativen Annahmen und 18% Provision + €9,99 Premium pro Engel.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2026-03-02T02:48:36Z</dcterms:created>
  <dcterms:modified xsi:type="dcterms:W3CDTF">2026-03-02T02:48:36Z</dcterms:modified>
</cp:coreProperties>
</file>