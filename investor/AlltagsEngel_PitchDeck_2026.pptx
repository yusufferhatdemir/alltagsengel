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1612"/>
                </a:solidFill>
                <a:latin typeface="Georgia"/>
              </a:defRPr>
            </a:pPr>
            <a:r>
              <a:rPr sz="1400" b="0" i="0" u="none" strike="noStrike">
                <a:solidFill>
                  <a:srgbClr val="1A1612"/>
                </a:solidFill>
                <a:latin typeface="Georgia"/>
              </a:rPr>
              <a:t>Umsatz &amp; Brutto-Marge (Szenario)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Umsatz (T€)</c:v>
                </c:pt>
              </c:strCache>
            </c:strRef>
          </c:tx>
          <c:spPr>
            <a:solidFill>
              <a:srgbClr val="C9A24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6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</c:v>
                </c:pt>
                <c:pt idx="1">
                  <c:v>780</c:v>
                </c:pt>
                <c:pt idx="2">
                  <c:v>2650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Brutto-Marge (T€)</c:v>
                </c:pt>
              </c:strCache>
            </c:strRef>
          </c:tx>
          <c:spPr>
            <a:solidFill>
              <a:srgbClr val="1A161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6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</c:v>
                </c:pt>
                <c:pt idx="1">
                  <c:v>234</c:v>
                </c:pt>
                <c:pt idx="2">
                  <c:v>1060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6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241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3D4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F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A241D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EAE3D4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Shape 1"/>
          <p:cNvSpPr/>
          <p:nvPr/>
        </p:nvSpPr>
        <p:spPr>
          <a:xfrm>
            <a:off x="8076895" y="-1371600"/>
            <a:ext cx="5486400" cy="5486400"/>
          </a:xfrm>
          <a:prstGeom prst="ellipse">
            <a:avLst/>
          </a:prstGeom>
          <a:solidFill>
            <a:srgbClr val="C9A24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991295" y="4114800"/>
            <a:ext cx="3657600" cy="3657600"/>
          </a:xfrm>
          <a:prstGeom prst="ellipse">
            <a:avLst/>
          </a:prstGeom>
          <a:solidFill>
            <a:srgbClr val="B85042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PITCH | PRE-SEED 2026</a:t>
            </a:r>
            <a:endParaRPr lang="en-US" sz="1200" dirty="0"/>
          </a:p>
        </p:txBody>
      </p:sp>
      <p:pic>
        <p:nvPicPr>
          <p:cNvPr id="6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1463040" cy="8046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2860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8000" dirty="0"/>
          </a:p>
        </p:txBody>
      </p:sp>
      <p:sp>
        <p:nvSpPr>
          <p:cNvPr id="8" name="Text 5"/>
          <p:cNvSpPr/>
          <p:nvPr/>
        </p:nvSpPr>
        <p:spPr>
          <a:xfrm>
            <a:off x="731520" y="35661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AF6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digitale Alltagshilfe für Deutschlands 5 Mio. Pflegebedürftige.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731520" y="4389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§45b SGB XI · Krankenfahrten · Pflegeboxen · Monats-Abo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31520" y="5394960"/>
            <a:ext cx="27432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55778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Yusuf Ferhat Demir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Gründer &amp; CEO · AlltagsEngel UG (i.G.)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076895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Vertraulich | Frankfurt · 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131 € im Monat. Jeden Monat. Ungenutzt.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der 5,2 Mio. Pflegebedürftigen in Deutschland hat Anspruch auf §45b SGB XI — 131 € monatlich für Alltagshilfen von der Kasse bezahlt. Doch über 60 % verfallen Jahr für Jahr ungenutzt.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361188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100584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Verfallsquote §45b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0584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Leistungen werden nicht abgerufen — zu komplex, zu bürokratisch, keine digitale Schnittstelle.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8912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8912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611880"/>
            <a:ext cx="548640" cy="5486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5488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3–6 Wo.</a:t>
            </a:r>
            <a:endParaRPr lang="en-US" sz="4800" dirty="0"/>
          </a:p>
        </p:txBody>
      </p:sp>
      <p:sp>
        <p:nvSpPr>
          <p:cNvPr id="15" name="Text 11"/>
          <p:cNvSpPr/>
          <p:nvPr/>
        </p:nvSpPr>
        <p:spPr>
          <a:xfrm>
            <a:off x="475488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Wartezeit auf Hilfe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75488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Traditionelle Pflegedienste haben Wartelisten. Angehörige sind verzweifelt, Kunden allein.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13816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13816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611880"/>
            <a:ext cx="548640" cy="5486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50392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∞</a:t>
            </a:r>
            <a:endParaRPr lang="en-US" sz="4800" dirty="0"/>
          </a:p>
        </p:txBody>
      </p:sp>
      <p:sp>
        <p:nvSpPr>
          <p:cNvPr id="21" name="Text 16"/>
          <p:cNvSpPr/>
          <p:nvPr/>
        </p:nvSpPr>
        <p:spPr>
          <a:xfrm>
            <a:off x="850392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Fragmentiertes System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850392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Kasse, Sanitätshaus, Fahrdienst, Hilfe, Box — alles getrennt. Ein Chaos für pflegende Angehörige.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4" name="Text 19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LÖSUNG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Eine App. Ein Login. Alles, was Pflege braucht.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108960" cy="4297680"/>
          </a:xfrm>
          <a:prstGeom prst="roundRect">
            <a:avLst>
              <a:gd name="adj" fmla="val 7353"/>
            </a:avLst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377440"/>
            <a:ext cx="2834640" cy="3749040"/>
          </a:xfrm>
          <a:prstGeom prst="roundRect">
            <a:avLst>
              <a:gd name="adj" fmla="val 3226"/>
            </a:avLst>
          </a:prstGeom>
          <a:solidFill>
            <a:srgbClr val="FAF6E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2743200"/>
            <a:ext cx="731520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611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4023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Hilfe · Fahrt · Pflegebox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005840" y="452628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46177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 finden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148840" y="452628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48840" y="46177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Krankenfahrt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005840" y="530352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05840" y="5394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148840" y="530352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148840" y="5394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Abrechnen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297680" y="210312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2258568"/>
            <a:ext cx="457200" cy="45720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257800" y="21031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Alltagshilfen nach §45b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5257800" y="248716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Vom Einkaufen bis zum Arzttermin — zertifizierte Engel, direkt in der App gebucht und von der Kasse abgerechnet.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4297680" y="310896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128" y="3264408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257800" y="31089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Krankenfahrten &amp; Taxi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5257800" y="349300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Arzt, zur Reha, zur Dialyse. Rezept hochladen, Fahrt buchen, AlltagsEngel kümmert sich um die Abrechnung.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4297680" y="411480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128" y="4270248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257800" y="41148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Pflegeboxen (§40)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5257800" y="449884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42 €/Monat Pflegehilfsmittel-Pauschale — automatischer Monatsversand, kein Papierkram für die Angehörigen.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4297680" y="512064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3128" y="5276088"/>
            <a:ext cx="457200" cy="45720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25780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Monats-Abo Premium</a:t>
            </a:r>
            <a:endParaRPr lang="en-US" sz="1800" dirty="0"/>
          </a:p>
        </p:txBody>
      </p:sp>
      <p:sp>
        <p:nvSpPr>
          <p:cNvPr id="32" name="Text 25"/>
          <p:cNvSpPr/>
          <p:nvPr/>
        </p:nvSpPr>
        <p:spPr>
          <a:xfrm>
            <a:off x="5257800" y="550468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Koordinierter Komplett-Service mit festem Engel, Priorisierung und persönlichem Care-Manager.</a:t>
            </a:r>
            <a:endParaRPr lang="en-US" sz="1150" dirty="0"/>
          </a:p>
        </p:txBody>
      </p:sp>
      <p:sp>
        <p:nvSpPr>
          <p:cNvPr id="33" name="Shape 2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4" name="Text 2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5" name="Text 2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JETZT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perfekte Moment — demografisch, digital, regulatorisch.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14884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4688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37744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5,2 Mio.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1874520" y="3246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in Deutschland 2025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309360" y="214884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09360" y="214884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468880"/>
            <a:ext cx="640080" cy="640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43800" y="237744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+7,6 Mrd €</a:t>
            </a:r>
            <a:endParaRPr lang="en-US" sz="4400" dirty="0"/>
          </a:p>
        </p:txBody>
      </p:sp>
      <p:sp>
        <p:nvSpPr>
          <p:cNvPr id="13" name="Text 9"/>
          <p:cNvSpPr/>
          <p:nvPr/>
        </p:nvSpPr>
        <p:spPr>
          <a:xfrm>
            <a:off x="7543800" y="3246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Jährliches §45b-Budget (60 % verfällt)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425196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0080" y="425196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00"/>
            <a:ext cx="640080" cy="6400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74520" y="44805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79 %</a:t>
            </a:r>
            <a:endParaRPr lang="en-US" sz="4400" dirty="0"/>
          </a:p>
        </p:txBody>
      </p:sp>
      <p:sp>
        <p:nvSpPr>
          <p:cNvPr id="18" name="Text 13"/>
          <p:cNvSpPr/>
          <p:nvPr/>
        </p:nvSpPr>
        <p:spPr>
          <a:xfrm>
            <a:off x="1874520" y="53492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65+ smartphone-affin (Bitkom 2025)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309360" y="425196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09360" y="425196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572000"/>
            <a:ext cx="640080" cy="6400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43800" y="44805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+24 %</a:t>
            </a:r>
            <a:endParaRPr lang="en-US" sz="4400" dirty="0"/>
          </a:p>
        </p:txBody>
      </p:sp>
      <p:sp>
        <p:nvSpPr>
          <p:cNvPr id="23" name="Text 17"/>
          <p:cNvSpPr/>
          <p:nvPr/>
        </p:nvSpPr>
        <p:spPr>
          <a:xfrm>
            <a:off x="7543800" y="53492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bis 2030 (Destatis)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5" name="Text 19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PRODUKT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Eine Plattform, drei Rollen, vollständig integriert.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22402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Kunde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&amp; Angehörige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00584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 finden &amp; buchen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Krankenfahrten beantragen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 monatlich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Rezepte hochladen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mit Care-Manager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4340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240280"/>
            <a:ext cx="640080" cy="6400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4340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Engel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34340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Alltagshelfer &amp; Pflegekräfte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470916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Aufträge im Umkreis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Kalender-Integration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 Abrechnung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Verified-Badge System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20–25 €/h ab Tag 1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4672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4672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240280"/>
            <a:ext cx="640080" cy="6400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04672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Fahrer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804672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Krankentransport-Partner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841248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Rezept-basiertes Matching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GPS-Routing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Kassen-Direktabrechnung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Fahrzeug-Verwaltung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Tour-Optimierung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solidFill>
            <a:srgbClr val="C9A24B">
              <a:alpha val="2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22960" y="5897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INTEGRIERT: Ein Kunde bucht Engel + Fahrt + Box in einem Flow — alles abgerechnet über eine Schnittstelle.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5" name="Text 20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GESCHÄFTSMODELL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Vier Einnahmequellen. Alle wiederkehrend.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860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1671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Alltagshilfen §45b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691640" y="253288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 zahlt · Engel bekommt 20–25 € · Marge ~7,50 €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686800" y="2167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32,50 €/h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686800" y="260604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11" name="Shape 8"/>
          <p:cNvSpPr/>
          <p:nvPr/>
        </p:nvSpPr>
        <p:spPr>
          <a:xfrm>
            <a:off x="8686800" y="2606040"/>
            <a:ext cx="1325880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2" name="Text 9"/>
          <p:cNvSpPr/>
          <p:nvPr/>
        </p:nvSpPr>
        <p:spPr>
          <a:xfrm>
            <a:off x="10607040" y="25603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vom Umsatz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40080" y="292608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68680" y="306324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15468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691640" y="30358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Krankenfahrten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1691640" y="340156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Pauschale auf Kassen-Erstattung · skalierbar mit Flotte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86800" y="30358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~8 €/Fahrt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8686800" y="347472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20" name="Shape 16"/>
          <p:cNvSpPr/>
          <p:nvPr/>
        </p:nvSpPr>
        <p:spPr>
          <a:xfrm>
            <a:off x="8686800" y="3474720"/>
            <a:ext cx="662940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1" name="Text 17"/>
          <p:cNvSpPr/>
          <p:nvPr/>
        </p:nvSpPr>
        <p:spPr>
          <a:xfrm>
            <a:off x="10607040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vom Umsatz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640080" y="379476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68680" y="393192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023360"/>
            <a:ext cx="457200" cy="45720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691640" y="3904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Pflegeboxen §40</a:t>
            </a:r>
            <a:endParaRPr lang="en-US" sz="2000" dirty="0"/>
          </a:p>
        </p:txBody>
      </p:sp>
      <p:sp>
        <p:nvSpPr>
          <p:cNvPr id="26" name="Text 21"/>
          <p:cNvSpPr/>
          <p:nvPr/>
        </p:nvSpPr>
        <p:spPr>
          <a:xfrm>
            <a:off x="1691640" y="42702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42 € Kassen-Pauschale · Partner-Modell mit ProCare</a:t>
            </a:r>
            <a:endParaRPr lang="en-US" sz="1050" dirty="0"/>
          </a:p>
        </p:txBody>
      </p:sp>
      <p:sp>
        <p:nvSpPr>
          <p:cNvPr id="27" name="Text 22"/>
          <p:cNvSpPr/>
          <p:nvPr/>
        </p:nvSpPr>
        <p:spPr>
          <a:xfrm>
            <a:off x="8686800" y="39044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~12 €/Box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8686800" y="434340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29" name="Shape 24"/>
          <p:cNvSpPr/>
          <p:nvPr/>
        </p:nvSpPr>
        <p:spPr>
          <a:xfrm>
            <a:off x="8686800" y="4343400"/>
            <a:ext cx="397764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0" name="Text 25"/>
          <p:cNvSpPr/>
          <p:nvPr/>
        </p:nvSpPr>
        <p:spPr>
          <a:xfrm>
            <a:off x="10607040" y="4297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vom Umsatz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640080" y="466344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868680" y="480060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892040"/>
            <a:ext cx="457200" cy="457200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1691640" y="47731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Premium-Abo</a:t>
            </a:r>
            <a:endParaRPr lang="en-US" sz="2000" dirty="0"/>
          </a:p>
        </p:txBody>
      </p:sp>
      <p:sp>
        <p:nvSpPr>
          <p:cNvPr id="35" name="Text 29"/>
          <p:cNvSpPr/>
          <p:nvPr/>
        </p:nvSpPr>
        <p:spPr>
          <a:xfrm>
            <a:off x="1691640" y="513892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Direktzahlung · Familie · Priorität · persönl. Manager</a:t>
            </a:r>
            <a:endParaRPr lang="en-US" sz="1050" dirty="0"/>
          </a:p>
        </p:txBody>
      </p:sp>
      <p:sp>
        <p:nvSpPr>
          <p:cNvPr id="36" name="Text 30"/>
          <p:cNvSpPr/>
          <p:nvPr/>
        </p:nvSpPr>
        <p:spPr>
          <a:xfrm>
            <a:off x="8686800" y="47731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29–49 €/Mo</a:t>
            </a:r>
            <a:endParaRPr lang="en-US" sz="1400" dirty="0"/>
          </a:p>
        </p:txBody>
      </p:sp>
      <p:sp>
        <p:nvSpPr>
          <p:cNvPr id="37" name="Shape 31"/>
          <p:cNvSpPr/>
          <p:nvPr/>
        </p:nvSpPr>
        <p:spPr>
          <a:xfrm>
            <a:off x="8686800" y="521208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38" name="Shape 32"/>
          <p:cNvSpPr/>
          <p:nvPr/>
        </p:nvSpPr>
        <p:spPr>
          <a:xfrm>
            <a:off x="8686800" y="5212080"/>
            <a:ext cx="265176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9" name="Text 33"/>
          <p:cNvSpPr/>
          <p:nvPr/>
        </p:nvSpPr>
        <p:spPr>
          <a:xfrm>
            <a:off x="10607040" y="5166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vom Umsatz</a:t>
            </a:r>
            <a:endParaRPr lang="en-US" sz="900" dirty="0"/>
          </a:p>
        </p:txBody>
      </p:sp>
      <p:sp>
        <p:nvSpPr>
          <p:cNvPr id="40" name="Shape 34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41" name="Text 35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Ø ARPU (Kunde): 340 €/Monat | Ø Kundenlebensdauer: 28 Monate | LTV: ~9.500 €</a:t>
            </a:r>
            <a:endParaRPr lang="en-US" sz="1300" dirty="0"/>
          </a:p>
        </p:txBody>
      </p:sp>
      <p:sp>
        <p:nvSpPr>
          <p:cNvPr id="42" name="Shape 3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43" name="Text 3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4" name="Text 3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QUO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Launch-ready. Erster Kunde an Bord.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554480" y="2560320"/>
            <a:ext cx="36576" cy="3383280"/>
          </a:xfrm>
          <a:prstGeom prst="rect">
            <a:avLst/>
          </a:prstGeom>
          <a:solidFill>
            <a:srgbClr val="C9A24B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417320" y="242316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1328" y="2487168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2377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874520" y="23317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Idee &amp; UG i.G.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874520" y="26700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Marktrecherche, UG-Gründung, erste Prototypen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417320" y="320040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328" y="3264408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" y="31546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874520" y="3108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 Build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1874520" y="344728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+ Android Native App, Web-Plattform, Supabase-Backend, RLS-Security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1417320" y="397764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328" y="4041648"/>
            <a:ext cx="182880" cy="1828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657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874520" y="3886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Launch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1874520" y="42245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im App Store &amp; Play Store, Marketing-Launch, erste Kundin (Sabrina) an Bord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1417320" y="4754880"/>
            <a:ext cx="310896" cy="310896"/>
          </a:xfrm>
          <a:prstGeom prst="ellipse">
            <a:avLst/>
          </a:prstGeom>
          <a:solidFill>
            <a:srgbClr val="F5EFE6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365760" y="47091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1874520" y="4663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F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Traction Frankfurt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1874520" y="50017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aktive Kunden · 20 verifizierte Engel · Erste Krankenfahrten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1417320" y="5532120"/>
            <a:ext cx="310896" cy="310896"/>
          </a:xfrm>
          <a:prstGeom prst="ellipse">
            <a:avLst/>
          </a:prstGeom>
          <a:solidFill>
            <a:srgbClr val="F5EFE6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65760" y="54864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1874520" y="5440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F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Expansion NRW</a:t>
            </a:r>
            <a:endParaRPr lang="en-US" sz="1700" dirty="0"/>
          </a:p>
        </p:txBody>
      </p:sp>
      <p:sp>
        <p:nvSpPr>
          <p:cNvPr id="27" name="Text 22"/>
          <p:cNvSpPr/>
          <p:nvPr/>
        </p:nvSpPr>
        <p:spPr>
          <a:xfrm>
            <a:off x="1874520" y="577900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Köln · Düsseldorf · Partnerschaft mit ProCare &amp; PROLIFE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9" name="Text 24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Dominanz-Strategie: Stadt für Stadt.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943600" cy="1280160"/>
          </a:xfrm>
          <a:prstGeom prst="rect">
            <a:avLst/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37744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828800" y="2331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Frankfurt am Main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82880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Start-Stadt 2026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28800" y="3035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500 Kunden · 80 Engel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5943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9476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794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8288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Köln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82880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2027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0" y="4453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800 Kunden · 120 Engel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5943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521208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212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828800" y="5166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Düsseldorf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828800" y="5623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2027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828800" y="5870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600 Kunden · 90 Engel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0" y="2103120"/>
            <a:ext cx="4663440" cy="411480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23" name="Shape 21"/>
          <p:cNvSpPr/>
          <p:nvPr/>
        </p:nvSpPr>
        <p:spPr>
          <a:xfrm>
            <a:off x="6858000" y="2103120"/>
            <a:ext cx="82296" cy="4114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4" name="Text 22"/>
          <p:cNvSpPr/>
          <p:nvPr/>
        </p:nvSpPr>
        <p:spPr>
          <a:xfrm>
            <a:off x="7223760" y="22860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GTM-PLAYBOOK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223760" y="26060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 Stadt in 90 Tagen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223760" y="3246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863840" y="32278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Lokale Engel rekrutieren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863840" y="35387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Facebook-Gruppen · Minijob-Börsen · AWO/Caritas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223760" y="39319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7863840" y="3913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Sanitätshaus-Allianzen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863840" y="42245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Ko-Marketing · Flyer · QR-Codes im Laden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223760" y="4617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863840" y="45994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Kassen-Abrechnung aktiv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863840" y="49103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Abrechnungsstelle freigeschaltet · §45b live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223760" y="5303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863840" y="52852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Acquisition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863840" y="55961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· Google · TV-regional (Senioren-Prime)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9" name="Text 3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 &amp; WETTBEWERB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 besetzen die Lücke zwischen Helpling und Pflegedienst.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594360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11880" y="2377440"/>
            <a:ext cx="0" cy="3474720"/>
          </a:xfrm>
          <a:prstGeom prst="line">
            <a:avLst/>
          </a:prstGeom>
          <a:noFill/>
          <a:ln w="12700">
            <a:solidFill>
              <a:srgbClr val="8A7F6E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822960" y="4114800"/>
            <a:ext cx="5577840" cy="0"/>
          </a:xfrm>
          <a:prstGeom prst="line">
            <a:avLst/>
          </a:prstGeom>
          <a:noFill/>
          <a:ln w="12700">
            <a:solidFill>
              <a:srgbClr val="8A7F6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40080" y="57607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Pflege-Fokus →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22402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→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399032" y="2810866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99032" y="281086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Helpling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70832" y="4961534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70832" y="496153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HomeInstead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27448" y="5230368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523036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Pflegedienst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874520" y="3310128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74520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Curendo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70832" y="292608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C9A24B"/>
          </a:solidFill>
          <a:ln w="19050">
            <a:solidFill>
              <a:srgbClr val="1A161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370832" y="2926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32320" y="21945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uns unterscheidet</a:t>
            </a:r>
            <a:endParaRPr lang="en-US" sz="22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2880360"/>
            <a:ext cx="292608" cy="29260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543800" y="27889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Kassen-Integriert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7543800" y="30906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Direktabrechnung mit §45b, §40 und Krankenkassen — keine Vorkasse für den Kunden.</a:t>
            </a:r>
            <a:endParaRPr lang="en-US" sz="105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3730752"/>
            <a:ext cx="292608" cy="292608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7543800" y="36393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Vollstack statt Punkt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7543800" y="394106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Hilfe + Fahrt + Box in einer App. Konkurrenz bietet nur eine Vertikale.</a:t>
            </a:r>
            <a:endParaRPr lang="en-US" sz="105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4581144"/>
            <a:ext cx="292608" cy="292608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7543800" y="44897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(native)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7543800" y="47914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+ Android + Web — Live-Server-Updates ohne Store-Release.</a:t>
            </a:r>
            <a:endParaRPr lang="en-US" sz="105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5431536"/>
            <a:ext cx="292608" cy="29260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543800" y="534009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 pro Kunde</a:t>
            </a:r>
            <a:endParaRPr lang="en-US" sz="1250" dirty="0"/>
          </a:p>
        </p:txBody>
      </p:sp>
      <p:sp>
        <p:nvSpPr>
          <p:cNvPr id="31" name="Text 25"/>
          <p:cNvSpPr/>
          <p:nvPr/>
        </p:nvSpPr>
        <p:spPr>
          <a:xfrm>
            <a:off x="7543800" y="564184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Menschliche Ansprechperson, WhatsApp-Kontakt, kein Chatbot-Labyrinth.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3" name="Text 2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Solo-Founder. Hands-on. Shipping seit Tag 1.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4754880" cy="4114800"/>
          </a:xfrm>
          <a:prstGeom prst="rect">
            <a:avLst/>
          </a:prstGeom>
          <a:solidFill>
            <a:srgbClr val="1A1612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0" y="2514600"/>
            <a:ext cx="1463040" cy="1463040"/>
          </a:xfrm>
          <a:prstGeom prst="ellipse">
            <a:avLst/>
          </a:prstGeom>
          <a:solidFill>
            <a:srgbClr val="C9A24B">
              <a:alpha val="20000"/>
            </a:srgbClr>
          </a:solidFill>
          <a:ln w="19050">
            <a:solidFill>
              <a:srgbClr val="C9A24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2743200"/>
            <a:ext cx="1005840" cy="1005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4114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Yusuf Ferhat Demir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4572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4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GRÜNDER · CEO · CTO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960120" y="4983480"/>
            <a:ext cx="4297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Frankfurt-basiert, türkisch-deutsche Wurzeln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Product-Led: Idee zu Live-App in 4 Monaten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Full-Stack: iOS, Android, Next.js, Supabase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Community-First: WhatsApp, direkter Kontakt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852160" y="21488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Schlüssel-Hires (mit dem Pre-Seed)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852160" y="265176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852160" y="265176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83464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66560" y="27249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Operations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766560" y="30358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Stadt-Launches, Engel-Rekrutierung, Qualität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852160" y="352044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852160" y="352044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703320"/>
            <a:ext cx="411480" cy="411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766560" y="35935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 (x2)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766560" y="39044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Persönlicher Kunden-Kontakt, Retention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852160" y="438912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5852160" y="438912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4572000"/>
            <a:ext cx="411480" cy="4114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766560" y="44622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Marketer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766560" y="4773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Social, SEO, Senioren-Zielgruppe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5852160" y="525780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5852160" y="525780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5440680"/>
            <a:ext cx="411480" cy="41148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6766560" y="53309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Partner-Manager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6766560" y="56418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Kassen, Sanitätshäuser, ProCare/PROLIFE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2" name="Text 25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FINANZPLAN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3-Jahres-Plan: Vom Launch zur NRW-Dominanz.</a:t>
            </a:r>
            <a:endParaRPr lang="en-US" sz="3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2103120"/>
          <a:ext cx="64008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210312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406640" y="210312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0" y="2148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2.650 T€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589520" y="2514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Umsatz 2028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406640" y="288036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06640" y="288036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0" y="2926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Städte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291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NRW abgedeckt bis Q4/2027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406640" y="365760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406640" y="365760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5" name="Text 12"/>
          <p:cNvSpPr/>
          <p:nvPr/>
        </p:nvSpPr>
        <p:spPr>
          <a:xfrm>
            <a:off x="7589520" y="3703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1.900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7589520" y="40690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Aktive Kunden Ø 2028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06640" y="443484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406640" y="443484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9" name="Text 16"/>
          <p:cNvSpPr/>
          <p:nvPr/>
        </p:nvSpPr>
        <p:spPr>
          <a:xfrm>
            <a:off x="7589520" y="4480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340 €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7589520" y="4846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ARPU pro Monat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406640" y="521208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521208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3" name="Text 20"/>
          <p:cNvSpPr/>
          <p:nvPr/>
        </p:nvSpPr>
        <p:spPr>
          <a:xfrm>
            <a:off x="7589520" y="5257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Q2 2028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589520" y="5623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Operativer Break-Even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Basisszenario · Konservativ · Detaillierter Financial-Model (Excel) separat im Due-Diligence-Paket.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7" name="Text 24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ASK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1,0 Mio €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· Wandeldarlehen oder Equity · 18–24 Monate Runway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388620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40 %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868680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Team-Aufbau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Ops, Care, Growth, Partner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584448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388620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84448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30 %</a:t>
            </a:r>
            <a:endParaRPr lang="en-US" sz="3400" dirty="0"/>
          </a:p>
        </p:txBody>
      </p:sp>
      <p:sp>
        <p:nvSpPr>
          <p:cNvPr id="14" name="Text 10"/>
          <p:cNvSpPr/>
          <p:nvPr/>
        </p:nvSpPr>
        <p:spPr>
          <a:xfrm>
            <a:off x="3721608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&amp; CAC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3721608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Social, TV-regional, SEO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437376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8936" y="3886200"/>
            <a:ext cx="548640" cy="5486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37376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20 %</a:t>
            </a:r>
            <a:endParaRPr lang="en-US" sz="3400" dirty="0"/>
          </a:p>
        </p:txBody>
      </p:sp>
      <p:sp>
        <p:nvSpPr>
          <p:cNvPr id="19" name="Text 14"/>
          <p:cNvSpPr/>
          <p:nvPr/>
        </p:nvSpPr>
        <p:spPr>
          <a:xfrm>
            <a:off x="6574536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NRW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574536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Köln + Düsseldorf Launches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9290304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41864" y="3886200"/>
            <a:ext cx="548640" cy="5486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90304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10 %</a:t>
            </a:r>
            <a:endParaRPr lang="en-US" sz="3400" dirty="0"/>
          </a:p>
        </p:txBody>
      </p:sp>
      <p:sp>
        <p:nvSpPr>
          <p:cNvPr id="24" name="Text 18"/>
          <p:cNvSpPr/>
          <p:nvPr/>
        </p:nvSpPr>
        <p:spPr>
          <a:xfrm>
            <a:off x="9427464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 &amp; Ops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427464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Abrechnungs-Engine, KI-Matching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73152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Seed: 1.900 Kunden · 2,6 Mio € Umsatz · Break-Even Q2/2028 · Series-A ready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8" name="Text 22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FIT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Warum ProCare + AlltagsEngel perfekt passen.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02920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5029200" cy="54864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488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ProCare · PROLIFE · care integral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017520"/>
            <a:ext cx="228600" cy="228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2971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Mitarbeiter, Hessen/Schleswig-Holstein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383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Pflegehilfsmittel-Logistik, forma-care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40480"/>
            <a:ext cx="228600" cy="228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80160" y="3794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Verträge mit allen Krankenkassen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51960"/>
            <a:ext cx="228600" cy="2286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280160" y="4206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Stoma, Wunde, Inkontinenz, Ernährung</a:t>
            </a:r>
            <a:endParaRPr lang="en-US" sz="12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663440"/>
            <a:ext cx="228600" cy="2286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80160" y="4617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Apotheken- &amp; Sanitätshaus-Netzwerk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6492240" y="2148840"/>
            <a:ext cx="5029200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18" name="Shape 11"/>
          <p:cNvSpPr/>
          <p:nvPr/>
        </p:nvSpPr>
        <p:spPr>
          <a:xfrm>
            <a:off x="6492240" y="2148840"/>
            <a:ext cx="5029200" cy="54864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9" name="Text 12"/>
          <p:cNvSpPr/>
          <p:nvPr/>
        </p:nvSpPr>
        <p:spPr>
          <a:xfrm>
            <a:off x="6492240" y="21488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17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017520"/>
            <a:ext cx="228600" cy="2286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7132320" y="2971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Digitale Plattform · iOS + Android + Web</a:t>
            </a:r>
            <a:endParaRPr lang="en-US" sz="120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3429000"/>
            <a:ext cx="228600" cy="22860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7132320" y="3383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§45b-Direktkontakt zum Endkunden</a:t>
            </a:r>
            <a:endParaRPr lang="en-US" sz="12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840480"/>
            <a:ext cx="228600" cy="22860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7132320" y="3794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Alltagshilfen, Krankenfahrten, Abo</a:t>
            </a:r>
            <a:endParaRPr lang="en-US" sz="1200" dirty="0"/>
          </a:p>
        </p:txBody>
      </p:sp>
      <p:pic>
        <p:nvPicPr>
          <p:cNvPr id="2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6560" y="4251960"/>
            <a:ext cx="228600" cy="228600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7132320" y="4206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Care-Manager-Beziehung pro Haushalt</a:t>
            </a:r>
            <a:endParaRPr lang="en-US" sz="1200" dirty="0"/>
          </a:p>
        </p:txBody>
      </p:sp>
      <p:pic>
        <p:nvPicPr>
          <p:cNvPr id="2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6560" y="4663440"/>
            <a:ext cx="228600" cy="228600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7132320" y="4617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Performance-Marketing &amp; Daten-First</a:t>
            </a:r>
            <a:endParaRPr lang="en-US" sz="1200" dirty="0"/>
          </a:p>
        </p:txBody>
      </p:sp>
      <p:sp>
        <p:nvSpPr>
          <p:cNvPr id="30" name="Shape 18"/>
          <p:cNvSpPr/>
          <p:nvPr/>
        </p:nvSpPr>
        <p:spPr>
          <a:xfrm>
            <a:off x="5486400" y="3383280"/>
            <a:ext cx="548640" cy="548640"/>
          </a:xfrm>
          <a:prstGeom prst="ellipse">
            <a:avLst/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31" name="Text 19"/>
          <p:cNvSpPr/>
          <p:nvPr/>
        </p:nvSpPr>
        <p:spPr>
          <a:xfrm>
            <a:off x="548640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2800" dirty="0"/>
          </a:p>
        </p:txBody>
      </p:sp>
      <p:sp>
        <p:nvSpPr>
          <p:cNvPr id="32" name="Shape 20"/>
          <p:cNvSpPr/>
          <p:nvPr/>
        </p:nvSpPr>
        <p:spPr>
          <a:xfrm>
            <a:off x="64008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3" name="Text 21"/>
          <p:cNvSpPr/>
          <p:nvPr/>
        </p:nvSpPr>
        <p:spPr>
          <a:xfrm>
            <a:off x="77724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Pflegebox-Direktversand</a:t>
            </a:r>
            <a:endParaRPr lang="en-US" sz="1100" dirty="0"/>
          </a:p>
        </p:txBody>
      </p:sp>
      <p:sp>
        <p:nvSpPr>
          <p:cNvPr id="34" name="Text 22"/>
          <p:cNvSpPr/>
          <p:nvPr/>
        </p:nvSpPr>
        <p:spPr>
          <a:xfrm>
            <a:off x="77724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ProCare-Produkte im AlltagsEngel-Abo — 42 €/Mo pro Kunde, 1.900 Kunden = 957 T€/Jahr</a:t>
            </a:r>
            <a:endParaRPr lang="en-US" sz="950" dirty="0"/>
          </a:p>
        </p:txBody>
      </p:sp>
      <p:sp>
        <p:nvSpPr>
          <p:cNvPr id="35" name="Shape 23"/>
          <p:cNvSpPr/>
          <p:nvPr/>
        </p:nvSpPr>
        <p:spPr>
          <a:xfrm>
            <a:off x="434340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6" name="Text 24"/>
          <p:cNvSpPr/>
          <p:nvPr/>
        </p:nvSpPr>
        <p:spPr>
          <a:xfrm>
            <a:off x="448056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Kassen-Abrechnungs-Rails</a:t>
            </a:r>
            <a:endParaRPr lang="en-US" sz="1100" dirty="0"/>
          </a:p>
        </p:txBody>
      </p:sp>
      <p:sp>
        <p:nvSpPr>
          <p:cNvPr id="37" name="Text 25"/>
          <p:cNvSpPr/>
          <p:nvPr/>
        </p:nvSpPr>
        <p:spPr>
          <a:xfrm>
            <a:off x="448056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PROLIFE's existierende Kassen-Verträge beschleunigen §45b-Rollout um 12–18 Monate</a:t>
            </a:r>
            <a:endParaRPr lang="en-US" sz="950" dirty="0"/>
          </a:p>
        </p:txBody>
      </p:sp>
      <p:sp>
        <p:nvSpPr>
          <p:cNvPr id="38" name="Shape 26"/>
          <p:cNvSpPr/>
          <p:nvPr/>
        </p:nvSpPr>
        <p:spPr>
          <a:xfrm>
            <a:off x="804672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9" name="Text 27"/>
          <p:cNvSpPr/>
          <p:nvPr/>
        </p:nvSpPr>
        <p:spPr>
          <a:xfrm>
            <a:off x="818388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Homecare-Cross-Sell</a:t>
            </a:r>
            <a:endParaRPr lang="en-US" sz="1100" dirty="0"/>
          </a:p>
        </p:txBody>
      </p:sp>
      <p:sp>
        <p:nvSpPr>
          <p:cNvPr id="40" name="Text 28"/>
          <p:cNvSpPr/>
          <p:nvPr/>
        </p:nvSpPr>
        <p:spPr>
          <a:xfrm>
            <a:off x="818388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Stoma/Wundversorgung in AlltagsEngel-App vermittelbar — pflegende Angehörige als Eingangstor</a:t>
            </a:r>
            <a:endParaRPr lang="en-US" sz="950" dirty="0"/>
          </a:p>
        </p:txBody>
      </p:sp>
      <p:sp>
        <p:nvSpPr>
          <p:cNvPr id="41" name="Shape 29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42" name="Text 30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3" name="Text 31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486400" cy="5486400"/>
          </a:xfrm>
          <a:prstGeom prst="ellipse">
            <a:avLst/>
          </a:prstGeom>
          <a:solidFill>
            <a:srgbClr val="C9A24B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828800"/>
            <a:ext cx="4572000" cy="4572000"/>
          </a:xfrm>
          <a:prstGeom prst="ellipse">
            <a:avLst/>
          </a:prstGeom>
          <a:solidFill>
            <a:srgbClr val="C9A24B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5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5775" y="457200"/>
            <a:ext cx="91440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9144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DANKE.</a:t>
            </a:r>
            <a:endParaRPr lang="en-US" sz="8000" dirty="0"/>
          </a:p>
        </p:txBody>
      </p:sp>
      <p:sp>
        <p:nvSpPr>
          <p:cNvPr id="7" name="Text 4"/>
          <p:cNvSpPr/>
          <p:nvPr/>
        </p:nvSpPr>
        <p:spPr>
          <a:xfrm>
            <a:off x="731520" y="2194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Lass uns die Pflege in Deutschland neu bauen.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31520" y="3063240"/>
            <a:ext cx="457200" cy="2743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3246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KONTAKT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8503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43000" y="3657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Yusuf Ferhat Demir — Gründer &amp; CEO</a:t>
            </a:r>
            <a:endParaRPr lang="en-US" sz="14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09651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43000" y="4069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+49 178 338 2825</a:t>
            </a:r>
            <a:endParaRPr lang="en-US" sz="14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07992"/>
            <a:ext cx="274320" cy="2743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43000" y="4480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y.cilcioglu@googlemail.com</a:t>
            </a:r>
            <a:endParaRPr lang="en-US" sz="14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919472"/>
            <a:ext cx="274320" cy="27432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43000" y="4892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 UG (i.G.) · Frankfurt am Main</a:t>
            </a:r>
            <a:endParaRPr lang="en-US" sz="14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330952"/>
            <a:ext cx="274320" cy="27432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43000" y="5303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alltagsengel.care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731520" y="6126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Vertraulich · Für ProCare Deutschland &amp; PROLIFE homecare GmbH · April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AlltagsEngel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AlltagsEngel — Investor Pitch Deck</dc:title>
  <dc:subject>PptxGenJS Presentation</dc:subject>
  <dc:creator>AlltagsEngel UG</dc:creator>
  <cp:lastModifiedBy>AlltagsEngel UG</cp:lastModifiedBy>
  <cp:revision>1</cp:revision>
  <dcterms:created xsi:type="dcterms:W3CDTF">2026-04-20T22:31:42Z</dcterms:created>
  <dcterms:modified xsi:type="dcterms:W3CDTF">2026-04-20T22:31:42Z</dcterms:modified>
</cp:coreProperties>
</file>