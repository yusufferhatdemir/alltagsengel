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A1612"/>
                </a:solidFill>
                <a:latin typeface="Georgia"/>
              </a:defRPr>
            </a:pPr>
            <a:r>
              <a:rPr sz="1400" b="0" i="0" u="none" strike="noStrike">
                <a:solidFill>
                  <a:srgbClr val="1A1612"/>
                </a:solidFill>
                <a:latin typeface="Georgia"/>
              </a:rPr>
              <a:t>Umsatz &amp; Brutto-Marge (Szenario)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Umsatz (T€)</c:v>
                </c:pt>
              </c:strCache>
            </c:strRef>
          </c:tx>
          <c:spPr>
            <a:solidFill>
              <a:srgbClr val="C9A24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6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95</c:v>
                </c:pt>
                <c:pt idx="1">
                  <c:v>780</c:v>
                </c:pt>
                <c:pt idx="2">
                  <c:v>2650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Brutto-Marge (T€)</c:v>
                </c:pt>
              </c:strCache>
            </c:strRef>
          </c:tx>
          <c:spPr>
            <a:solidFill>
              <a:srgbClr val="1A161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6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22</c:v>
                </c:pt>
                <c:pt idx="1">
                  <c:v>234</c:v>
                </c:pt>
                <c:pt idx="2">
                  <c:v>1060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161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A241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3D4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7F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A241D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 w="12700" cap="flat">
      <a:solidFill>
        <a:srgbClr val="EAE3D4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" name="Shape 1"/>
          <p:cNvSpPr/>
          <p:nvPr/>
        </p:nvSpPr>
        <p:spPr>
          <a:xfrm>
            <a:off x="8076895" y="-1371600"/>
            <a:ext cx="5486400" cy="5486400"/>
          </a:xfrm>
          <a:prstGeom prst="ellipse">
            <a:avLst/>
          </a:prstGeom>
          <a:solidFill>
            <a:srgbClr val="C9A24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991295" y="4114800"/>
            <a:ext cx="3657600" cy="3657600"/>
          </a:xfrm>
          <a:prstGeom prst="ellipse">
            <a:avLst/>
          </a:prstGeom>
          <a:solidFill>
            <a:srgbClr val="B85042">
              <a:alpha val="1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PITCH | PRE-SEED 2026</a:t>
            </a:r>
            <a:endParaRPr lang="en-US" sz="1200" dirty="0"/>
          </a:p>
        </p:txBody>
      </p:sp>
      <p:pic>
        <p:nvPicPr>
          <p:cNvPr id="6" name="Image 0" descr="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280160"/>
            <a:ext cx="1463040" cy="8046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28600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AlltagsEngel</a:t>
            </a:r>
            <a:endParaRPr lang="en-US" sz="8000" dirty="0"/>
          </a:p>
        </p:txBody>
      </p:sp>
      <p:sp>
        <p:nvSpPr>
          <p:cNvPr id="8" name="Text 5"/>
          <p:cNvSpPr/>
          <p:nvPr/>
        </p:nvSpPr>
        <p:spPr>
          <a:xfrm>
            <a:off x="731520" y="35661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AF6E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digitale Alltagshilfe für Deutschlands 5 Mio. Pflegebedürftige.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731520" y="4389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00" kern="0" dirty="0">
                <a:solidFill>
                  <a:srgbClr val="E0C6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§45b SGB XI · Krankenfahrten · Pflegeboxen · Monats-Abo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31520" y="5394960"/>
            <a:ext cx="27432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55778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Yusuf Ferhat Demir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Gründer &amp; CEO · AlltagsEngel UG (i.G.)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076895" y="6035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Vertraulich | Frankfurt · April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131 € im Monat. Jeden Monat. Ungenutzt.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der 5,2 Mio. Pflegebedürftigen in Deutschland hat Anspruch auf §45b SGB XI — 131 € monatlich für Alltagshilfen von der Kasse bezahlt. Doch über 60 % verfallen Jahr für Jahr ungenutzt.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246120"/>
            <a:ext cx="356616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3246120"/>
            <a:ext cx="3566160" cy="73152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3611880"/>
            <a:ext cx="548640" cy="5486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05840" y="42976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</a:t>
            </a:r>
            <a:endParaRPr lang="en-US" sz="4800" dirty="0"/>
          </a:p>
        </p:txBody>
      </p:sp>
      <p:sp>
        <p:nvSpPr>
          <p:cNvPr id="9" name="Text 6"/>
          <p:cNvSpPr/>
          <p:nvPr/>
        </p:nvSpPr>
        <p:spPr>
          <a:xfrm>
            <a:off x="1005840" y="5029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Verfallsquote §45b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005840" y="53949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Leistungen werden nicht abgerufen — zu komplex, zu bürokratisch, keine digitale Schnittstelle.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89120" y="3246120"/>
            <a:ext cx="356616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389120" y="3246120"/>
            <a:ext cx="3566160" cy="73152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3611880"/>
            <a:ext cx="548640" cy="5486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754880" y="42976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3–6 Wo.</a:t>
            </a:r>
            <a:endParaRPr lang="en-US" sz="4800" dirty="0"/>
          </a:p>
        </p:txBody>
      </p:sp>
      <p:sp>
        <p:nvSpPr>
          <p:cNvPr id="15" name="Text 11"/>
          <p:cNvSpPr/>
          <p:nvPr/>
        </p:nvSpPr>
        <p:spPr>
          <a:xfrm>
            <a:off x="4754880" y="5029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Wartezeit auf Hilfe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4754880" y="53949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Traditionelle Pflegedienste haben Wartelisten. Angehörige sind verzweifelt, Kunden allein.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8138160" y="3246120"/>
            <a:ext cx="356616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138160" y="3246120"/>
            <a:ext cx="3566160" cy="73152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3611880"/>
            <a:ext cx="548640" cy="5486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503920" y="42976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∞</a:t>
            </a:r>
            <a:endParaRPr lang="en-US" sz="4800" dirty="0"/>
          </a:p>
        </p:txBody>
      </p:sp>
      <p:sp>
        <p:nvSpPr>
          <p:cNvPr id="21" name="Text 16"/>
          <p:cNvSpPr/>
          <p:nvPr/>
        </p:nvSpPr>
        <p:spPr>
          <a:xfrm>
            <a:off x="8503920" y="5029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Fragmentiertes System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8503920" y="53949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Kasse, Sanitätshaus, Fahrdienst, Hilfe, Box — alles getrennt. Ein Chaos für pflegende Angehörige.</a:t>
            </a:r>
            <a:endParaRPr lang="en-US" sz="1100" dirty="0"/>
          </a:p>
        </p:txBody>
      </p:sp>
      <p:pic>
        <p:nvPicPr>
          <p:cNvPr id="23" name="Image 3" descr="logo-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5" name="Text 19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UNSERE LÖSUNG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Eine App. Ein Login. Alles, was Pflege braucht.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108960" cy="4297680"/>
          </a:xfrm>
          <a:prstGeom prst="roundRect">
            <a:avLst>
              <a:gd name="adj" fmla="val 7353"/>
            </a:avLst>
          </a:prstGeom>
          <a:solidFill>
            <a:srgbClr val="1A1612"/>
          </a:solidFill>
          <a:ln w="25400">
            <a:solidFill>
              <a:srgbClr val="C9A2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377440"/>
            <a:ext cx="2834640" cy="3749040"/>
          </a:xfrm>
          <a:prstGeom prst="roundRect">
            <a:avLst>
              <a:gd name="adj" fmla="val 3226"/>
            </a:avLst>
          </a:prstGeom>
          <a:solidFill>
            <a:srgbClr val="FAF6E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2743200"/>
            <a:ext cx="731520" cy="7315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3611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AlltagsEngel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40080" y="40233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Hilfe · Fahrt · Pflegebox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005840" y="4526280"/>
            <a:ext cx="1005840" cy="640080"/>
          </a:xfrm>
          <a:prstGeom prst="roundRect">
            <a:avLst>
              <a:gd name="adj" fmla="val 11429"/>
            </a:avLst>
          </a:prstGeom>
          <a:solidFill>
            <a:srgbClr val="C9A24B">
              <a:alpha val="15000"/>
            </a:srgbClr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05840" y="46177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Engel finden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148840" y="4526280"/>
            <a:ext cx="1005840" cy="640080"/>
          </a:xfrm>
          <a:prstGeom prst="roundRect">
            <a:avLst>
              <a:gd name="adj" fmla="val 11429"/>
            </a:avLst>
          </a:prstGeom>
          <a:solidFill>
            <a:srgbClr val="C9A24B">
              <a:alpha val="15000"/>
            </a:srgbClr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148840" y="46177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Krankenfahrt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005840" y="5303520"/>
            <a:ext cx="1005840" cy="640080"/>
          </a:xfrm>
          <a:prstGeom prst="roundRect">
            <a:avLst>
              <a:gd name="adj" fmla="val 11429"/>
            </a:avLst>
          </a:prstGeom>
          <a:solidFill>
            <a:srgbClr val="C9A24B">
              <a:alpha val="15000"/>
            </a:srgbClr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05840" y="53949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Pflegebox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2148840" y="5303520"/>
            <a:ext cx="1005840" cy="640080"/>
          </a:xfrm>
          <a:prstGeom prst="roundRect">
            <a:avLst>
              <a:gd name="adj" fmla="val 11429"/>
            </a:avLst>
          </a:prstGeom>
          <a:solidFill>
            <a:srgbClr val="C9A24B">
              <a:alpha val="15000"/>
            </a:srgbClr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148840" y="53949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Abrechnen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4297680" y="2103120"/>
            <a:ext cx="777240" cy="77724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3128" y="2258568"/>
            <a:ext cx="457200" cy="45720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5257800" y="210312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Alltagshilfen nach §45b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5257800" y="2487168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Vom Einkaufen bis zum Arzttermin — zertifizierte Engel, direkt in der App gebucht und von der Kasse abgerechnet.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4297680" y="3108960"/>
            <a:ext cx="777240" cy="77724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3128" y="3264408"/>
            <a:ext cx="457200" cy="45720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257800" y="310896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Krankenfahrten &amp; Taxi</a:t>
            </a:r>
            <a:endParaRPr lang="en-US" sz="1800" dirty="0"/>
          </a:p>
        </p:txBody>
      </p:sp>
      <p:sp>
        <p:nvSpPr>
          <p:cNvPr id="24" name="Text 19"/>
          <p:cNvSpPr/>
          <p:nvPr/>
        </p:nvSpPr>
        <p:spPr>
          <a:xfrm>
            <a:off x="5257800" y="3493008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Zum Arzt, zur Reha, zur Dialyse. Rezept hochladen, Fahrt buchen, AlltagsEngel kümmert sich um die Abrechnung.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4297680" y="4114800"/>
            <a:ext cx="777240" cy="77724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3128" y="4270248"/>
            <a:ext cx="457200" cy="45720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5257800" y="411480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Pflegeboxen (§40)</a:t>
            </a:r>
            <a:endParaRPr lang="en-US" sz="1800" dirty="0"/>
          </a:p>
        </p:txBody>
      </p:sp>
      <p:sp>
        <p:nvSpPr>
          <p:cNvPr id="28" name="Text 22"/>
          <p:cNvSpPr/>
          <p:nvPr/>
        </p:nvSpPr>
        <p:spPr>
          <a:xfrm>
            <a:off x="5257800" y="4498848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42 €/Monat Pflegehilfsmittel-Pauschale — automatischer Monatsversand, kein Papierkram für die Angehörigen.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4297680" y="5120640"/>
            <a:ext cx="777240" cy="77724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53128" y="5276088"/>
            <a:ext cx="457200" cy="45720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257800" y="51206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Monats-Abo Premium</a:t>
            </a:r>
            <a:endParaRPr lang="en-US" sz="1800" dirty="0"/>
          </a:p>
        </p:txBody>
      </p:sp>
      <p:sp>
        <p:nvSpPr>
          <p:cNvPr id="32" name="Text 25"/>
          <p:cNvSpPr/>
          <p:nvPr/>
        </p:nvSpPr>
        <p:spPr>
          <a:xfrm>
            <a:off x="5257800" y="5504688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Koordinierter Komplett-Service mit festem Engel, Priorisierung und persönlichem Care-Manager.</a:t>
            </a:r>
            <a:endParaRPr lang="en-US" sz="1150" dirty="0"/>
          </a:p>
        </p:txBody>
      </p:sp>
      <p:pic>
        <p:nvPicPr>
          <p:cNvPr id="33" name="Image 5" descr="logo-mar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34" name="Shape 26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5" name="Text 27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JETZT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perfekte Moment — demografisch, digital, regulatorisch.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54406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2148840"/>
            <a:ext cx="82296" cy="187452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46888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74520" y="237744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5,2 Mio.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1874520" y="32461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Pflegebedürftige in Deutschland 2025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309360" y="2148840"/>
            <a:ext cx="54406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09360" y="2148840"/>
            <a:ext cx="82296" cy="187452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468880"/>
            <a:ext cx="640080" cy="6400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543800" y="237744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+7,6 Mrd €</a:t>
            </a:r>
            <a:endParaRPr lang="en-US" sz="4400" dirty="0"/>
          </a:p>
        </p:txBody>
      </p:sp>
      <p:sp>
        <p:nvSpPr>
          <p:cNvPr id="13" name="Text 9"/>
          <p:cNvSpPr/>
          <p:nvPr/>
        </p:nvSpPr>
        <p:spPr>
          <a:xfrm>
            <a:off x="7543800" y="32461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Jährliches §45b-Budget (60 % verfällt)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0080" y="4251960"/>
            <a:ext cx="54406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0080" y="4251960"/>
            <a:ext cx="82296" cy="187452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572000"/>
            <a:ext cx="640080" cy="6400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74520" y="448056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79 %</a:t>
            </a:r>
            <a:endParaRPr lang="en-US" sz="4400" dirty="0"/>
          </a:p>
        </p:txBody>
      </p:sp>
      <p:sp>
        <p:nvSpPr>
          <p:cNvPr id="18" name="Text 13"/>
          <p:cNvSpPr/>
          <p:nvPr/>
        </p:nvSpPr>
        <p:spPr>
          <a:xfrm>
            <a:off x="1874520" y="53492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65+ smartphone-affin (Bitkom 2025)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309360" y="4251960"/>
            <a:ext cx="54406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309360" y="4251960"/>
            <a:ext cx="82296" cy="187452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4572000"/>
            <a:ext cx="640080" cy="64008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543800" y="448056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+24 %</a:t>
            </a:r>
            <a:endParaRPr lang="en-US" sz="4400" dirty="0"/>
          </a:p>
        </p:txBody>
      </p:sp>
      <p:sp>
        <p:nvSpPr>
          <p:cNvPr id="23" name="Text 17"/>
          <p:cNvSpPr/>
          <p:nvPr/>
        </p:nvSpPr>
        <p:spPr>
          <a:xfrm>
            <a:off x="7543800" y="53492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Pflegebedürftige bis 2030 (Destatis)</a:t>
            </a:r>
            <a:endParaRPr lang="en-US" sz="1200" dirty="0"/>
          </a:p>
        </p:txBody>
      </p:sp>
      <p:pic>
        <p:nvPicPr>
          <p:cNvPr id="24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6" name="Text 19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27" name="Text 20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PRODUKT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Eine Plattform, drei Rollen, vollständig integriert.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356616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2057400"/>
            <a:ext cx="3566160" cy="1097280"/>
          </a:xfrm>
          <a:prstGeom prst="rect">
            <a:avLst/>
          </a:prstGeom>
          <a:solidFill>
            <a:srgbClr val="1A161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0" y="224028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E0C6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Kunde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40080" y="3200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Pflegebedürftige &amp; Angehörige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005840" y="3657600"/>
            <a:ext cx="2834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Engel finden &amp; buchen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Krankenfahrten beantragen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Pflegebox monatlich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Rezepte hochladen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mit Care-Manager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43400" y="2057400"/>
            <a:ext cx="356616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43400" y="2057400"/>
            <a:ext cx="3566160" cy="1097280"/>
          </a:xfrm>
          <a:prstGeom prst="rect">
            <a:avLst/>
          </a:prstGeom>
          <a:solidFill>
            <a:srgbClr val="1A161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240280"/>
            <a:ext cx="640080" cy="6400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34340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E0C6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Engel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343400" y="3200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Alltagshelfer &amp; Pflegekräfte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4709160" y="3657600"/>
            <a:ext cx="2834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Aufträge im Umkreis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Kalender-Integration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Automatische Abrechnung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Verified-Badge System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20–25 €/h ab Tag 1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046720" y="2057400"/>
            <a:ext cx="356616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046720" y="2057400"/>
            <a:ext cx="3566160" cy="1097280"/>
          </a:xfrm>
          <a:prstGeom prst="rect">
            <a:avLst/>
          </a:prstGeom>
          <a:solidFill>
            <a:srgbClr val="1A161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2240280"/>
            <a:ext cx="640080" cy="6400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04672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E0C6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Fahrer</a:t>
            </a:r>
            <a:endParaRPr lang="en-US" sz="2000" dirty="0"/>
          </a:p>
        </p:txBody>
      </p:sp>
      <p:sp>
        <p:nvSpPr>
          <p:cNvPr id="20" name="Text 15"/>
          <p:cNvSpPr/>
          <p:nvPr/>
        </p:nvSpPr>
        <p:spPr>
          <a:xfrm>
            <a:off x="8046720" y="3200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Krankentransport-Partner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8412480" y="3657600"/>
            <a:ext cx="2834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Rezept-basiertes Matching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GPS-Routing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Kassen-Direktabrechnung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Fahrzeug-Verwaltung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Tour-Optimierung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solidFill>
            <a:srgbClr val="C9A24B">
              <a:alpha val="20000"/>
            </a:srgbClr>
          </a:solidFill>
          <a:ln/>
        </p:spPr>
      </p:sp>
      <p:sp>
        <p:nvSpPr>
          <p:cNvPr id="23" name="Text 18"/>
          <p:cNvSpPr/>
          <p:nvPr/>
        </p:nvSpPr>
        <p:spPr>
          <a:xfrm>
            <a:off x="822960" y="5897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INTEGRIERT: Ein Kunde bucht Engel + Fahrt + Box in einem Flow — alles abgerechnet über eine Schnittstelle.</a:t>
            </a:r>
            <a:endParaRPr lang="en-US" sz="1200" dirty="0"/>
          </a:p>
        </p:txBody>
      </p:sp>
      <p:pic>
        <p:nvPicPr>
          <p:cNvPr id="24" name="Image 3" descr="logo-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6" name="Text 20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GESCHÄFTSMODELL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Vier Einnahmequellen. Alle wiederkehrend.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108813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94560"/>
            <a:ext cx="640080" cy="64008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28600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1671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Alltagshilfen §45b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691640" y="253288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 zahlt · Engel bekommt 20–25 € · Marge ~7,50 €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686800" y="21671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32,50 €/h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686800" y="2606040"/>
            <a:ext cx="2651760" cy="164592"/>
          </a:xfrm>
          <a:prstGeom prst="rect">
            <a:avLst/>
          </a:prstGeom>
          <a:solidFill>
            <a:srgbClr val="EAE3D4"/>
          </a:solidFill>
          <a:ln/>
        </p:spPr>
      </p:sp>
      <p:sp>
        <p:nvSpPr>
          <p:cNvPr id="11" name="Shape 8"/>
          <p:cNvSpPr/>
          <p:nvPr/>
        </p:nvSpPr>
        <p:spPr>
          <a:xfrm>
            <a:off x="8686800" y="2606040"/>
            <a:ext cx="1325880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2" name="Text 9"/>
          <p:cNvSpPr/>
          <p:nvPr/>
        </p:nvSpPr>
        <p:spPr>
          <a:xfrm>
            <a:off x="10607040" y="25603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vom Umsatz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640080" y="2926080"/>
            <a:ext cx="108813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68680" y="3063240"/>
            <a:ext cx="640080" cy="64008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154680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691640" y="30358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Krankenfahrten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1691640" y="340156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Pauschale auf Kassen-Erstattung · skalierbar mit Flotte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686800" y="30358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~8 €/Fahrt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8686800" y="3474720"/>
            <a:ext cx="2651760" cy="164592"/>
          </a:xfrm>
          <a:prstGeom prst="rect">
            <a:avLst/>
          </a:prstGeom>
          <a:solidFill>
            <a:srgbClr val="EAE3D4"/>
          </a:solidFill>
          <a:ln/>
        </p:spPr>
      </p:sp>
      <p:sp>
        <p:nvSpPr>
          <p:cNvPr id="20" name="Shape 16"/>
          <p:cNvSpPr/>
          <p:nvPr/>
        </p:nvSpPr>
        <p:spPr>
          <a:xfrm>
            <a:off x="8686800" y="3474720"/>
            <a:ext cx="662940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1" name="Text 17"/>
          <p:cNvSpPr/>
          <p:nvPr/>
        </p:nvSpPr>
        <p:spPr>
          <a:xfrm>
            <a:off x="10607040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vom Umsatz</a:t>
            </a:r>
            <a:endParaRPr lang="en-US" sz="900" dirty="0"/>
          </a:p>
        </p:txBody>
      </p:sp>
      <p:sp>
        <p:nvSpPr>
          <p:cNvPr id="22" name="Shape 18"/>
          <p:cNvSpPr/>
          <p:nvPr/>
        </p:nvSpPr>
        <p:spPr>
          <a:xfrm>
            <a:off x="640080" y="3794760"/>
            <a:ext cx="108813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68680" y="3931920"/>
            <a:ext cx="640080" cy="64008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023360"/>
            <a:ext cx="457200" cy="45720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1691640" y="39044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Pflegeboxen §40</a:t>
            </a:r>
            <a:endParaRPr lang="en-US" sz="2000" dirty="0"/>
          </a:p>
        </p:txBody>
      </p:sp>
      <p:sp>
        <p:nvSpPr>
          <p:cNvPr id="26" name="Text 21"/>
          <p:cNvSpPr/>
          <p:nvPr/>
        </p:nvSpPr>
        <p:spPr>
          <a:xfrm>
            <a:off x="1691640" y="42702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42 € Kassen-Pauschale · Partner-Modell mit ProCare</a:t>
            </a:r>
            <a:endParaRPr lang="en-US" sz="1050" dirty="0"/>
          </a:p>
        </p:txBody>
      </p:sp>
      <p:sp>
        <p:nvSpPr>
          <p:cNvPr id="27" name="Text 22"/>
          <p:cNvSpPr/>
          <p:nvPr/>
        </p:nvSpPr>
        <p:spPr>
          <a:xfrm>
            <a:off x="8686800" y="390448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~12 €/Box</a:t>
            </a:r>
            <a:endParaRPr lang="en-US" sz="1400" dirty="0"/>
          </a:p>
        </p:txBody>
      </p:sp>
      <p:sp>
        <p:nvSpPr>
          <p:cNvPr id="28" name="Shape 23"/>
          <p:cNvSpPr/>
          <p:nvPr/>
        </p:nvSpPr>
        <p:spPr>
          <a:xfrm>
            <a:off x="8686800" y="4343400"/>
            <a:ext cx="2651760" cy="164592"/>
          </a:xfrm>
          <a:prstGeom prst="rect">
            <a:avLst/>
          </a:prstGeom>
          <a:solidFill>
            <a:srgbClr val="EAE3D4"/>
          </a:solidFill>
          <a:ln/>
        </p:spPr>
      </p:sp>
      <p:sp>
        <p:nvSpPr>
          <p:cNvPr id="29" name="Shape 24"/>
          <p:cNvSpPr/>
          <p:nvPr/>
        </p:nvSpPr>
        <p:spPr>
          <a:xfrm>
            <a:off x="8686800" y="4343400"/>
            <a:ext cx="397764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0" name="Text 25"/>
          <p:cNvSpPr/>
          <p:nvPr/>
        </p:nvSpPr>
        <p:spPr>
          <a:xfrm>
            <a:off x="10607040" y="4297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 vom Umsatz</a:t>
            </a:r>
            <a:endParaRPr lang="en-US" sz="900" dirty="0"/>
          </a:p>
        </p:txBody>
      </p:sp>
      <p:sp>
        <p:nvSpPr>
          <p:cNvPr id="31" name="Shape 26"/>
          <p:cNvSpPr/>
          <p:nvPr/>
        </p:nvSpPr>
        <p:spPr>
          <a:xfrm>
            <a:off x="640080" y="4663440"/>
            <a:ext cx="108813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868680" y="4800600"/>
            <a:ext cx="640080" cy="64008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892040"/>
            <a:ext cx="457200" cy="457200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1691640" y="47731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Premium-Abo</a:t>
            </a:r>
            <a:endParaRPr lang="en-US" sz="2000" dirty="0"/>
          </a:p>
        </p:txBody>
      </p:sp>
      <p:sp>
        <p:nvSpPr>
          <p:cNvPr id="35" name="Text 29"/>
          <p:cNvSpPr/>
          <p:nvPr/>
        </p:nvSpPr>
        <p:spPr>
          <a:xfrm>
            <a:off x="1691640" y="513892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Direktzahlung · Familie · Priorität · persönl. Manager</a:t>
            </a:r>
            <a:endParaRPr lang="en-US" sz="1050" dirty="0"/>
          </a:p>
        </p:txBody>
      </p:sp>
      <p:sp>
        <p:nvSpPr>
          <p:cNvPr id="36" name="Text 30"/>
          <p:cNvSpPr/>
          <p:nvPr/>
        </p:nvSpPr>
        <p:spPr>
          <a:xfrm>
            <a:off x="8686800" y="477316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29–49 €/Mo</a:t>
            </a:r>
            <a:endParaRPr lang="en-US" sz="1400" dirty="0"/>
          </a:p>
        </p:txBody>
      </p:sp>
      <p:sp>
        <p:nvSpPr>
          <p:cNvPr id="37" name="Shape 31"/>
          <p:cNvSpPr/>
          <p:nvPr/>
        </p:nvSpPr>
        <p:spPr>
          <a:xfrm>
            <a:off x="8686800" y="5212080"/>
            <a:ext cx="2651760" cy="164592"/>
          </a:xfrm>
          <a:prstGeom prst="rect">
            <a:avLst/>
          </a:prstGeom>
          <a:solidFill>
            <a:srgbClr val="EAE3D4"/>
          </a:solidFill>
          <a:ln/>
        </p:spPr>
      </p:sp>
      <p:sp>
        <p:nvSpPr>
          <p:cNvPr id="38" name="Shape 32"/>
          <p:cNvSpPr/>
          <p:nvPr/>
        </p:nvSpPr>
        <p:spPr>
          <a:xfrm>
            <a:off x="8686800" y="5212080"/>
            <a:ext cx="265176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9" name="Text 33"/>
          <p:cNvSpPr/>
          <p:nvPr/>
        </p:nvSpPr>
        <p:spPr>
          <a:xfrm>
            <a:off x="10607040" y="5166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vom Umsatz</a:t>
            </a:r>
            <a:endParaRPr lang="en-US" sz="900" dirty="0"/>
          </a:p>
        </p:txBody>
      </p:sp>
      <p:sp>
        <p:nvSpPr>
          <p:cNvPr id="40" name="Shape 34"/>
          <p:cNvSpPr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solidFill>
            <a:srgbClr val="1A1612"/>
          </a:solidFill>
          <a:ln/>
        </p:spPr>
      </p:sp>
      <p:sp>
        <p:nvSpPr>
          <p:cNvPr id="41" name="Text 35"/>
          <p:cNvSpPr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E0C6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Ø ARPU (Kunde): 340 €/Monat | Ø Kundenlebensdauer: 28 Monate | LTV: ~9.500 €</a:t>
            </a:r>
            <a:endParaRPr lang="en-US" sz="1300" dirty="0"/>
          </a:p>
        </p:txBody>
      </p:sp>
      <p:pic>
        <p:nvPicPr>
          <p:cNvPr id="42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43" name="Shape 36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44" name="Text 37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45" name="Text 38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QUO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Launch-ready. Erster Kunde an Bord.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1554480" y="2560320"/>
            <a:ext cx="36576" cy="3383280"/>
          </a:xfrm>
          <a:prstGeom prst="rect">
            <a:avLst/>
          </a:prstGeom>
          <a:solidFill>
            <a:srgbClr val="C9A24B">
              <a:alpha val="4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417320" y="2423160"/>
            <a:ext cx="310896" cy="310896"/>
          </a:xfrm>
          <a:prstGeom prst="ellipse">
            <a:avLst/>
          </a:prstGeom>
          <a:solidFill>
            <a:srgbClr val="C9A24B"/>
          </a:solidFill>
          <a:ln w="25400">
            <a:solidFill>
              <a:srgbClr val="C9A24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1328" y="2487168"/>
            <a:ext cx="182880" cy="182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23774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2025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874520" y="23317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Idee &amp; UG i.G.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874520" y="267004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Marktrecherche, UG-Gründung, erste Prototypen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417320" y="3200400"/>
            <a:ext cx="310896" cy="310896"/>
          </a:xfrm>
          <a:prstGeom prst="ellipse">
            <a:avLst/>
          </a:prstGeom>
          <a:solidFill>
            <a:srgbClr val="C9A24B"/>
          </a:solidFill>
          <a:ln w="25400">
            <a:solidFill>
              <a:srgbClr val="C9A24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1328" y="3264408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5760" y="315468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2026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874520" y="31089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MVP Build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1874520" y="344728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+ Android Native App, Web-Plattform, Supabase-Backend, RLS-Security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1417320" y="3977640"/>
            <a:ext cx="310896" cy="310896"/>
          </a:xfrm>
          <a:prstGeom prst="ellipse">
            <a:avLst/>
          </a:prstGeom>
          <a:solidFill>
            <a:srgbClr val="C9A24B"/>
          </a:solidFill>
          <a:ln w="25400">
            <a:solidFill>
              <a:srgbClr val="C9A24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1328" y="4041648"/>
            <a:ext cx="182880" cy="1828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6576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2026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1874520" y="38862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Launch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1874520" y="422452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im App Store &amp; Play Store, Marketing-Launch, erste Kundin (Sabrina) an Bord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1417320" y="4754880"/>
            <a:ext cx="310896" cy="310896"/>
          </a:xfrm>
          <a:prstGeom prst="ellipse">
            <a:avLst/>
          </a:prstGeom>
          <a:solidFill>
            <a:srgbClr val="F5EFE6"/>
          </a:solidFill>
          <a:ln w="25400">
            <a:solidFill>
              <a:srgbClr val="C9A24B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365760" y="470916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1874520" y="46634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7F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Traction Frankfurt</a:t>
            </a:r>
            <a:endParaRPr lang="en-US" sz="1700" dirty="0"/>
          </a:p>
        </p:txBody>
      </p:sp>
      <p:sp>
        <p:nvSpPr>
          <p:cNvPr id="23" name="Text 18"/>
          <p:cNvSpPr/>
          <p:nvPr/>
        </p:nvSpPr>
        <p:spPr>
          <a:xfrm>
            <a:off x="1874520" y="500176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aktive Kunden · 20 verifizierte Engel · Erste Krankenfahrten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1417320" y="5532120"/>
            <a:ext cx="310896" cy="310896"/>
          </a:xfrm>
          <a:prstGeom prst="ellipse">
            <a:avLst/>
          </a:prstGeom>
          <a:solidFill>
            <a:srgbClr val="F5EFE6"/>
          </a:solidFill>
          <a:ln w="25400">
            <a:solidFill>
              <a:srgbClr val="C9A24B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365760" y="54864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1100" dirty="0"/>
          </a:p>
        </p:txBody>
      </p:sp>
      <p:sp>
        <p:nvSpPr>
          <p:cNvPr id="26" name="Text 21"/>
          <p:cNvSpPr/>
          <p:nvPr/>
        </p:nvSpPr>
        <p:spPr>
          <a:xfrm>
            <a:off x="1874520" y="54406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7F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Expansion NRW</a:t>
            </a:r>
            <a:endParaRPr lang="en-US" sz="1700" dirty="0"/>
          </a:p>
        </p:txBody>
      </p:sp>
      <p:sp>
        <p:nvSpPr>
          <p:cNvPr id="27" name="Text 22"/>
          <p:cNvSpPr/>
          <p:nvPr/>
        </p:nvSpPr>
        <p:spPr>
          <a:xfrm>
            <a:off x="1874520" y="577900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Köln · Düsseldorf · Partnerschaft mit ProCare &amp; PROLIFE</a:t>
            </a:r>
            <a:endParaRPr lang="en-US" sz="1100" dirty="0"/>
          </a:p>
        </p:txBody>
      </p:sp>
      <p:pic>
        <p:nvPicPr>
          <p:cNvPr id="28" name="Image 3" descr="logo-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0" name="Text 24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31" name="Text 25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Dominanz-Strategie: Stadt für Stadt.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943600" cy="1280160"/>
          </a:xfrm>
          <a:prstGeom prst="rect">
            <a:avLst/>
          </a:prstGeom>
          <a:solidFill>
            <a:srgbClr val="1A1612"/>
          </a:solidFill>
          <a:ln w="25400">
            <a:solidFill>
              <a:srgbClr val="C9A24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377440"/>
            <a:ext cx="731520" cy="73152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828800" y="23317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Frankfurt am Main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828800" y="2788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C6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Start-Stadt 2026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828800" y="30358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Ziel: 500 Kunden · 80 Engel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520440"/>
            <a:ext cx="59436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794760"/>
            <a:ext cx="731520" cy="73152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7947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8288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Köln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828800" y="4206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2027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0" y="44531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Ziel: 800 Kunden · 120 Engel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937760"/>
            <a:ext cx="59436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68680" y="5212080"/>
            <a:ext cx="731520" cy="73152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5212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1828800" y="51663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Düsseldorf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828800" y="5623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2027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828800" y="5870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Ziel: 600 Kunden · 90 Engel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858000" y="2103120"/>
            <a:ext cx="4663440" cy="4114800"/>
          </a:xfrm>
          <a:prstGeom prst="rect">
            <a:avLst/>
          </a:prstGeom>
          <a:solidFill>
            <a:srgbClr val="1A1612"/>
          </a:solidFill>
          <a:ln/>
        </p:spPr>
      </p:sp>
      <p:sp>
        <p:nvSpPr>
          <p:cNvPr id="23" name="Shape 21"/>
          <p:cNvSpPr/>
          <p:nvPr/>
        </p:nvSpPr>
        <p:spPr>
          <a:xfrm>
            <a:off x="6858000" y="2103120"/>
            <a:ext cx="82296" cy="4114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4" name="Text 22"/>
          <p:cNvSpPr/>
          <p:nvPr/>
        </p:nvSpPr>
        <p:spPr>
          <a:xfrm>
            <a:off x="7223760" y="22860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GTM-PLAYBOOK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223760" y="26060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 Stadt in 90 Tagen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223760" y="32461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863840" y="32278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Lokale Engel rekrutieren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863840" y="35387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Facebook-Gruppen · Minijob-Börsen · AWO/Caritas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223760" y="39319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7863840" y="39136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Sanitätshaus-Allianzen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863840" y="42245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Ko-Marketing · Flyer · QR-Codes im Laden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223760" y="46177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7863840" y="45994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Kassen-Abrechnung aktiv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863840" y="49103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Abrechnungsstelle freigeschaltet · §45b live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223760" y="5303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7863840" y="52852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Acquisition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863840" y="55961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· Google · TV-regional (Senioren-Prime)</a:t>
            </a:r>
            <a:endParaRPr lang="en-US" sz="1000" dirty="0"/>
          </a:p>
        </p:txBody>
      </p:sp>
      <p:pic>
        <p:nvPicPr>
          <p:cNvPr id="38" name="Image 0" descr="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39" name="Shape 36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40" name="Text 37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MARKT &amp; WETTBEWERB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Wir besetzen die Lücke zwischen Helpling und Pflegedienst.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5943600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11880" y="2377440"/>
            <a:ext cx="0" cy="3474720"/>
          </a:xfrm>
          <a:prstGeom prst="line">
            <a:avLst/>
          </a:prstGeom>
          <a:noFill/>
          <a:ln w="12700">
            <a:solidFill>
              <a:srgbClr val="8A7F6E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822960" y="4114800"/>
            <a:ext cx="5577840" cy="0"/>
          </a:xfrm>
          <a:prstGeom prst="line">
            <a:avLst/>
          </a:prstGeom>
          <a:noFill/>
          <a:ln w="12700">
            <a:solidFill>
              <a:srgbClr val="8A7F6E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640080" y="57607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Pflege-Fokus →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22402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→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399032" y="2810866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DDDDDD"/>
          </a:solidFill>
          <a:ln w="6350">
            <a:solidFill>
              <a:srgbClr val="BBBB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99032" y="2810866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Helpling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70832" y="4961534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DDDDDD"/>
          </a:solidFill>
          <a:ln w="6350">
            <a:solidFill>
              <a:srgbClr val="BBBBB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70832" y="4961534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HomeInstead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27448" y="5230368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DDDDDD"/>
          </a:solidFill>
          <a:ln w="6350">
            <a:solidFill>
              <a:srgbClr val="BBBBB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27448" y="523036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Pflegedienst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874520" y="3310128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DDDDDD"/>
          </a:solidFill>
          <a:ln w="6350">
            <a:solidFill>
              <a:srgbClr val="BBBBB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74520" y="33101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Curendo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70832" y="2926080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C9A24B"/>
          </a:solidFill>
          <a:ln w="19050">
            <a:solidFill>
              <a:srgbClr val="1A161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370832" y="29260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132320" y="21945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uns unterscheidet</a:t>
            </a:r>
            <a:endParaRPr lang="en-US" sz="220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2880360"/>
            <a:ext cx="292608" cy="292608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7543800" y="27889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Kassen-Integriert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7543800" y="309067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Direktabrechnung mit §45b, §40 und Krankenkassen — keine Vorkasse für den Kunden.</a:t>
            </a:r>
            <a:endParaRPr lang="en-US" sz="105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3730752"/>
            <a:ext cx="292608" cy="292608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7543800" y="363931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Vollstack statt Punkt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7543800" y="394106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Hilfe + Fahrt + Box in einer App. Konkurrenz bietet nur eine Vertikale.</a:t>
            </a:r>
            <a:endParaRPr lang="en-US" sz="1050" dirty="0"/>
          </a:p>
        </p:txBody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4581144"/>
            <a:ext cx="292608" cy="292608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7543800" y="448970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 (native)</a:t>
            </a:r>
            <a:endParaRPr lang="en-US" sz="1250" dirty="0"/>
          </a:p>
        </p:txBody>
      </p:sp>
      <p:sp>
        <p:nvSpPr>
          <p:cNvPr id="28" name="Text 23"/>
          <p:cNvSpPr/>
          <p:nvPr/>
        </p:nvSpPr>
        <p:spPr>
          <a:xfrm>
            <a:off x="7543800" y="479145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+ Android + Web — Live-Server-Updates ohne Store-Release.</a:t>
            </a:r>
            <a:endParaRPr lang="en-US" sz="105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0" y="5431536"/>
            <a:ext cx="292608" cy="292608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7543800" y="534009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Care-Manager pro Kunde</a:t>
            </a:r>
            <a:endParaRPr lang="en-US" sz="1250" dirty="0"/>
          </a:p>
        </p:txBody>
      </p:sp>
      <p:sp>
        <p:nvSpPr>
          <p:cNvPr id="31" name="Text 25"/>
          <p:cNvSpPr/>
          <p:nvPr/>
        </p:nvSpPr>
        <p:spPr>
          <a:xfrm>
            <a:off x="7543800" y="564184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Menschliche Ansprechperson, WhatsApp-Kontakt, kein Chatbot-Labyrinth.</a:t>
            </a:r>
            <a:endParaRPr lang="en-US" sz="1050" dirty="0"/>
          </a:p>
        </p:txBody>
      </p:sp>
      <p:pic>
        <p:nvPicPr>
          <p:cNvPr id="32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33" name="Shape 26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4" name="Text 27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35" name="Text 28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Solo-Founder. Hands-on. Shipping seit Tag 1.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4754880" cy="4114800"/>
          </a:xfrm>
          <a:prstGeom prst="rect">
            <a:avLst/>
          </a:prstGeom>
          <a:solidFill>
            <a:srgbClr val="1A1612"/>
          </a:solidFill>
          <a:ln w="19050">
            <a:solidFill>
              <a:srgbClr val="C9A2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86000" y="2514600"/>
            <a:ext cx="1463040" cy="1463040"/>
          </a:xfrm>
          <a:prstGeom prst="ellipse">
            <a:avLst/>
          </a:prstGeom>
          <a:solidFill>
            <a:srgbClr val="C9A24B">
              <a:alpha val="20000"/>
            </a:srgbClr>
          </a:solidFill>
          <a:ln w="19050">
            <a:solidFill>
              <a:srgbClr val="C9A24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4600" y="2743200"/>
            <a:ext cx="1005840" cy="10058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4114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Yusuf Ferhat Demir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45720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4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GRÜNDER · CEO · CTO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960120" y="4983480"/>
            <a:ext cx="4297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●"/>
            </a:pPr>
            <a:r>
              <a:rPr lang="en-US" sz="1050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Frankfurt-basiert, türkisch-deutsche Wurzeln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●"/>
            </a:pPr>
            <a:r>
              <a:rPr lang="en-US" sz="1050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Product-Led: Idee zu Live-App in 4 Monaten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●"/>
            </a:pPr>
            <a:r>
              <a:rPr lang="en-US" sz="1050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Full-Stack: iOS, Android, Next.js, Supabase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●"/>
            </a:pPr>
            <a:r>
              <a:rPr lang="en-US" sz="1050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Community-First: WhatsApp, direkter Kontakt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852160" y="21488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Nächste Schlüssel-Hires (mit dem Pre-Seed)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852160" y="2651760"/>
            <a:ext cx="56692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852160" y="2651760"/>
            <a:ext cx="64008" cy="77724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834640"/>
            <a:ext cx="411480" cy="4114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766560" y="272491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Operations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6766560" y="303580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Stadt-Launches, Engel-Rekrutierung, Qualität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852160" y="3520440"/>
            <a:ext cx="56692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852160" y="3520440"/>
            <a:ext cx="64008" cy="77724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3703320"/>
            <a:ext cx="411480" cy="4114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766560" y="35935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Care-Manager (x2)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766560" y="390448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Persönlicher Kunden-Kontakt, Retention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5852160" y="4389120"/>
            <a:ext cx="56692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5852160" y="4389120"/>
            <a:ext cx="64008" cy="77724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4572000"/>
            <a:ext cx="411480" cy="41148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766560" y="44622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Marketer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6766560" y="47731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Social, SEO, Senioren-Zielgruppe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5852160" y="5257800"/>
            <a:ext cx="56692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5852160" y="5257800"/>
            <a:ext cx="64008" cy="77724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5440680"/>
            <a:ext cx="411480" cy="41148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6766560" y="533095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Partner-Manager</a:t>
            </a:r>
            <a:endParaRPr lang="en-US" sz="1300" dirty="0"/>
          </a:p>
        </p:txBody>
      </p:sp>
      <p:sp>
        <p:nvSpPr>
          <p:cNvPr id="30" name="Text 23"/>
          <p:cNvSpPr/>
          <p:nvPr/>
        </p:nvSpPr>
        <p:spPr>
          <a:xfrm>
            <a:off x="6766560" y="564184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Kassen, Sanitätshäuser, ProCare/PROLIFE</a:t>
            </a:r>
            <a:endParaRPr lang="en-US" sz="1050" dirty="0"/>
          </a:p>
        </p:txBody>
      </p:sp>
      <p:pic>
        <p:nvPicPr>
          <p:cNvPr id="31" name="Image 5" descr="logo-mar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32" name="Shape 24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3" name="Text 25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34" name="Text 26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FINANZPLAN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3-Jahres-Plan: Vom Launch zur NRW-Dominanz.</a:t>
            </a:r>
            <a:endParaRPr lang="en-US" sz="3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2103120"/>
          <a:ext cx="64008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406640" y="2103120"/>
            <a:ext cx="41148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406640" y="2103120"/>
            <a:ext cx="54864" cy="685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7" name="Text 4"/>
          <p:cNvSpPr/>
          <p:nvPr/>
        </p:nvSpPr>
        <p:spPr>
          <a:xfrm>
            <a:off x="7589520" y="21488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2.650 T€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589520" y="25146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Umsatz 2028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406640" y="2880360"/>
            <a:ext cx="41148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406640" y="2880360"/>
            <a:ext cx="54864" cy="685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1" name="Text 8"/>
          <p:cNvSpPr/>
          <p:nvPr/>
        </p:nvSpPr>
        <p:spPr>
          <a:xfrm>
            <a:off x="7589520" y="29260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Städte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7589520" y="3291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NRW abgedeckt bis Q4/2027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7406640" y="3657600"/>
            <a:ext cx="41148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406640" y="3657600"/>
            <a:ext cx="54864" cy="685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5" name="Text 12"/>
          <p:cNvSpPr/>
          <p:nvPr/>
        </p:nvSpPr>
        <p:spPr>
          <a:xfrm>
            <a:off x="7589520" y="37033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1.900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7589520" y="40690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Aktive Kunden Ø 2028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406640" y="4434840"/>
            <a:ext cx="41148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406640" y="4434840"/>
            <a:ext cx="54864" cy="685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9" name="Text 16"/>
          <p:cNvSpPr/>
          <p:nvPr/>
        </p:nvSpPr>
        <p:spPr>
          <a:xfrm>
            <a:off x="7589520" y="44805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340 €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7589520" y="4846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ARPU pro Monat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406640" y="5212080"/>
            <a:ext cx="41148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06640" y="5212080"/>
            <a:ext cx="54864" cy="685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3" name="Text 20"/>
          <p:cNvSpPr/>
          <p:nvPr/>
        </p:nvSpPr>
        <p:spPr>
          <a:xfrm>
            <a:off x="7589520" y="52578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Q2 2028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7589520" y="56235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Operativer Break-Even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40080" y="6172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Basisszenario · Konservativ · Detaillierter Financial-Model (Excel) separat im Due-Diligence-Paket.</a:t>
            </a:r>
            <a:endParaRPr lang="en-US" sz="900" dirty="0"/>
          </a:p>
        </p:txBody>
      </p:sp>
      <p:pic>
        <p:nvPicPr>
          <p:cNvPr id="26" name="Image 0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8" name="Text 24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ASK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972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1,0 Mio €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E0C6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· Wandeldarlehen oder Equity · 18–24 Monate Runway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3611880"/>
            <a:ext cx="2651760" cy="2103120"/>
          </a:xfrm>
          <a:prstGeom prst="rect">
            <a:avLst/>
          </a:prstGeom>
          <a:solidFill>
            <a:srgbClr val="2A241D"/>
          </a:solidFill>
          <a:ln w="9525">
            <a:solidFill>
              <a:srgbClr val="C9A24B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3080" y="3886200"/>
            <a:ext cx="548640" cy="5486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45262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40 %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868680" y="50932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Team-Aufbau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68680" y="53766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Ops, Care, Growth, Partner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584448" y="3611880"/>
            <a:ext cx="2651760" cy="2103120"/>
          </a:xfrm>
          <a:prstGeom prst="rect">
            <a:avLst/>
          </a:prstGeom>
          <a:solidFill>
            <a:srgbClr val="2A241D"/>
          </a:solidFill>
          <a:ln w="9525">
            <a:solidFill>
              <a:srgbClr val="C9A24B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3886200"/>
            <a:ext cx="548640" cy="5486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84448" y="45262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30 %</a:t>
            </a:r>
            <a:endParaRPr lang="en-US" sz="3400" dirty="0"/>
          </a:p>
        </p:txBody>
      </p:sp>
      <p:sp>
        <p:nvSpPr>
          <p:cNvPr id="14" name="Text 10"/>
          <p:cNvSpPr/>
          <p:nvPr/>
        </p:nvSpPr>
        <p:spPr>
          <a:xfrm>
            <a:off x="3721608" y="50932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&amp; CAC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3721608" y="53766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Social, TV-regional, SEO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437376" y="3611880"/>
            <a:ext cx="2651760" cy="2103120"/>
          </a:xfrm>
          <a:prstGeom prst="rect">
            <a:avLst/>
          </a:prstGeom>
          <a:solidFill>
            <a:srgbClr val="2A241D"/>
          </a:solidFill>
          <a:ln w="9525">
            <a:solidFill>
              <a:srgbClr val="C9A24B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8936" y="3886200"/>
            <a:ext cx="548640" cy="5486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37376" y="45262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20 %</a:t>
            </a:r>
            <a:endParaRPr lang="en-US" sz="3400" dirty="0"/>
          </a:p>
        </p:txBody>
      </p:sp>
      <p:sp>
        <p:nvSpPr>
          <p:cNvPr id="19" name="Text 14"/>
          <p:cNvSpPr/>
          <p:nvPr/>
        </p:nvSpPr>
        <p:spPr>
          <a:xfrm>
            <a:off x="6574536" y="50932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NRW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6574536" y="53766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Köln + Düsseldorf Launches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9290304" y="3611880"/>
            <a:ext cx="2651760" cy="2103120"/>
          </a:xfrm>
          <a:prstGeom prst="rect">
            <a:avLst/>
          </a:prstGeom>
          <a:solidFill>
            <a:srgbClr val="2A241D"/>
          </a:solidFill>
          <a:ln w="9525">
            <a:solidFill>
              <a:srgbClr val="C9A24B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41864" y="3886200"/>
            <a:ext cx="548640" cy="5486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90304" y="45262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10 %</a:t>
            </a:r>
            <a:endParaRPr lang="en-US" sz="3400" dirty="0"/>
          </a:p>
        </p:txBody>
      </p:sp>
      <p:sp>
        <p:nvSpPr>
          <p:cNvPr id="24" name="Text 18"/>
          <p:cNvSpPr/>
          <p:nvPr/>
        </p:nvSpPr>
        <p:spPr>
          <a:xfrm>
            <a:off x="9427464" y="50932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 &amp; Ops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9427464" y="53766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Abrechnungs-Engine, KI-Matching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73152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E0C6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 Seed: 1.900 Kunden · 2,6 Mio € Umsatz · Break-Even Q2/2028 · Series-A ready</a:t>
            </a:r>
            <a:endParaRPr lang="en-US" sz="1200" dirty="0"/>
          </a:p>
        </p:txBody>
      </p:sp>
      <p:pic>
        <p:nvPicPr>
          <p:cNvPr id="27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28" name="Shape 21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9" name="Text 22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FIT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Warum ProCare + AlltagsEngel perfekt passen.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502920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5029200" cy="548640"/>
          </a:xfrm>
          <a:prstGeom prst="rect">
            <a:avLst/>
          </a:prstGeom>
          <a:solidFill>
            <a:srgbClr val="1A1612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488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ProCare · PROLIFE · care integral</a:t>
            </a:r>
            <a:endParaRPr lang="en-US" sz="13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017520"/>
            <a:ext cx="228600" cy="2286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29718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Mitarbeiter, Hessen/Schleswig-Holstein</a:t>
            </a:r>
            <a:endParaRPr lang="en-US" sz="12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2900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80160" y="33832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Pflegehilfsmittel-Logistik, forma-care</a:t>
            </a:r>
            <a:endParaRPr lang="en-US" sz="12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840480"/>
            <a:ext cx="228600" cy="2286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80160" y="37947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Verträge mit allen Krankenkassen</a:t>
            </a:r>
            <a:endParaRPr lang="en-US" sz="12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251960"/>
            <a:ext cx="228600" cy="2286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280160" y="42062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Stoma, Wunde, Inkontinenz, Ernährung</a:t>
            </a:r>
            <a:endParaRPr lang="en-US" sz="120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663440"/>
            <a:ext cx="228600" cy="22860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280160" y="4617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Apotheken- &amp; Sanitätshaus-Netzwerk</a:t>
            </a:r>
            <a:endParaRPr lang="en-US" sz="1200" dirty="0"/>
          </a:p>
        </p:txBody>
      </p:sp>
      <p:sp>
        <p:nvSpPr>
          <p:cNvPr id="17" name="Shape 10"/>
          <p:cNvSpPr/>
          <p:nvPr/>
        </p:nvSpPr>
        <p:spPr>
          <a:xfrm>
            <a:off x="6492240" y="2148840"/>
            <a:ext cx="5029200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C9A24B"/>
            </a:solidFill>
            <a:prstDash val="solid"/>
          </a:ln>
        </p:spPr>
      </p:sp>
      <p:sp>
        <p:nvSpPr>
          <p:cNvPr id="18" name="Shape 11"/>
          <p:cNvSpPr/>
          <p:nvPr/>
        </p:nvSpPr>
        <p:spPr>
          <a:xfrm>
            <a:off x="6492240" y="2148840"/>
            <a:ext cx="5029200" cy="54864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9" name="Text 12"/>
          <p:cNvSpPr/>
          <p:nvPr/>
        </p:nvSpPr>
        <p:spPr>
          <a:xfrm>
            <a:off x="6492240" y="21488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AlltagsEngel</a:t>
            </a:r>
            <a:endParaRPr lang="en-US" sz="17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60" y="3017520"/>
            <a:ext cx="228600" cy="22860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7132320" y="29718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Digitale Plattform · iOS + Android + Web</a:t>
            </a:r>
            <a:endParaRPr lang="en-US" sz="1200" dirty="0"/>
          </a:p>
        </p:txBody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6560" y="3429000"/>
            <a:ext cx="228600" cy="228600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7132320" y="33832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§45b-Direktkontakt zum Endkunden</a:t>
            </a:r>
            <a:endParaRPr lang="en-US" sz="1200" dirty="0"/>
          </a:p>
        </p:txBody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840480"/>
            <a:ext cx="228600" cy="228600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7132320" y="37947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Alltagshilfen, Krankenfahrten, Abo</a:t>
            </a:r>
            <a:endParaRPr lang="en-US" sz="1200" dirty="0"/>
          </a:p>
        </p:txBody>
      </p:sp>
      <p:pic>
        <p:nvPicPr>
          <p:cNvPr id="2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66560" y="4251960"/>
            <a:ext cx="228600" cy="228600"/>
          </a:xfrm>
          <a:prstGeom prst="rect">
            <a:avLst/>
          </a:prstGeom>
        </p:spPr>
      </p:pic>
      <p:sp>
        <p:nvSpPr>
          <p:cNvPr id="27" name="Text 16"/>
          <p:cNvSpPr/>
          <p:nvPr/>
        </p:nvSpPr>
        <p:spPr>
          <a:xfrm>
            <a:off x="7132320" y="42062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Care-Manager-Beziehung pro Haushalt</a:t>
            </a:r>
            <a:endParaRPr lang="en-US" sz="1200" dirty="0"/>
          </a:p>
        </p:txBody>
      </p:sp>
      <p:pic>
        <p:nvPicPr>
          <p:cNvPr id="2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66560" y="4663440"/>
            <a:ext cx="228600" cy="228600"/>
          </a:xfrm>
          <a:prstGeom prst="rect">
            <a:avLst/>
          </a:prstGeom>
        </p:spPr>
      </p:pic>
      <p:sp>
        <p:nvSpPr>
          <p:cNvPr id="29" name="Text 17"/>
          <p:cNvSpPr/>
          <p:nvPr/>
        </p:nvSpPr>
        <p:spPr>
          <a:xfrm>
            <a:off x="7132320" y="4617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Performance-Marketing &amp; Daten-First</a:t>
            </a:r>
            <a:endParaRPr lang="en-US" sz="1200" dirty="0"/>
          </a:p>
        </p:txBody>
      </p:sp>
      <p:sp>
        <p:nvSpPr>
          <p:cNvPr id="30" name="Shape 18"/>
          <p:cNvSpPr/>
          <p:nvPr/>
        </p:nvSpPr>
        <p:spPr>
          <a:xfrm>
            <a:off x="5486400" y="3383280"/>
            <a:ext cx="548640" cy="548640"/>
          </a:xfrm>
          <a:prstGeom prst="ellipse">
            <a:avLst/>
          </a:prstGeom>
          <a:solidFill>
            <a:srgbClr val="1A1612"/>
          </a:solidFill>
          <a:ln w="25400">
            <a:solidFill>
              <a:srgbClr val="C9A24B"/>
            </a:solidFill>
            <a:prstDash val="solid"/>
          </a:ln>
        </p:spPr>
      </p:sp>
      <p:sp>
        <p:nvSpPr>
          <p:cNvPr id="31" name="Text 19"/>
          <p:cNvSpPr/>
          <p:nvPr/>
        </p:nvSpPr>
        <p:spPr>
          <a:xfrm>
            <a:off x="5486400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  <a:endParaRPr lang="en-US" sz="2800" dirty="0"/>
          </a:p>
        </p:txBody>
      </p:sp>
      <p:sp>
        <p:nvSpPr>
          <p:cNvPr id="32" name="Shape 20"/>
          <p:cNvSpPr/>
          <p:nvPr/>
        </p:nvSpPr>
        <p:spPr>
          <a:xfrm>
            <a:off x="640080" y="5486400"/>
            <a:ext cx="3520440" cy="868680"/>
          </a:xfrm>
          <a:prstGeom prst="rect">
            <a:avLst/>
          </a:prstGeom>
          <a:solidFill>
            <a:srgbClr val="C9A24B">
              <a:alpha val="15000"/>
            </a:srgbClr>
          </a:solidFill>
          <a:ln w="9525">
            <a:solidFill>
              <a:srgbClr val="C9A24B"/>
            </a:solidFill>
            <a:prstDash val="solid"/>
          </a:ln>
        </p:spPr>
      </p:sp>
      <p:sp>
        <p:nvSpPr>
          <p:cNvPr id="33" name="Text 21"/>
          <p:cNvSpPr/>
          <p:nvPr/>
        </p:nvSpPr>
        <p:spPr>
          <a:xfrm>
            <a:off x="777240" y="555955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Pflegebox-Direktversand</a:t>
            </a:r>
            <a:endParaRPr lang="en-US" sz="1100" dirty="0"/>
          </a:p>
        </p:txBody>
      </p:sp>
      <p:sp>
        <p:nvSpPr>
          <p:cNvPr id="34" name="Text 22"/>
          <p:cNvSpPr/>
          <p:nvPr/>
        </p:nvSpPr>
        <p:spPr>
          <a:xfrm>
            <a:off x="777240" y="583387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ProCare-Produkte im AlltagsEngel-Abo — 42 €/Mo pro Kunde, 1.900 Kunden = 957 T€/Jahr</a:t>
            </a:r>
            <a:endParaRPr lang="en-US" sz="950" dirty="0"/>
          </a:p>
        </p:txBody>
      </p:sp>
      <p:sp>
        <p:nvSpPr>
          <p:cNvPr id="35" name="Shape 23"/>
          <p:cNvSpPr/>
          <p:nvPr/>
        </p:nvSpPr>
        <p:spPr>
          <a:xfrm>
            <a:off x="4343400" y="5486400"/>
            <a:ext cx="3520440" cy="868680"/>
          </a:xfrm>
          <a:prstGeom prst="rect">
            <a:avLst/>
          </a:prstGeom>
          <a:solidFill>
            <a:srgbClr val="C9A24B">
              <a:alpha val="15000"/>
            </a:srgbClr>
          </a:solidFill>
          <a:ln w="9525">
            <a:solidFill>
              <a:srgbClr val="C9A24B"/>
            </a:solidFill>
            <a:prstDash val="solid"/>
          </a:ln>
        </p:spPr>
      </p:sp>
      <p:sp>
        <p:nvSpPr>
          <p:cNvPr id="36" name="Text 24"/>
          <p:cNvSpPr/>
          <p:nvPr/>
        </p:nvSpPr>
        <p:spPr>
          <a:xfrm>
            <a:off x="4480560" y="555955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Kassen-Abrechnungs-Rails</a:t>
            </a:r>
            <a:endParaRPr lang="en-US" sz="1100" dirty="0"/>
          </a:p>
        </p:txBody>
      </p:sp>
      <p:sp>
        <p:nvSpPr>
          <p:cNvPr id="37" name="Text 25"/>
          <p:cNvSpPr/>
          <p:nvPr/>
        </p:nvSpPr>
        <p:spPr>
          <a:xfrm>
            <a:off x="4480560" y="583387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PROLIFE's existierende Kassen-Verträge beschleunigen §45b-Rollout um 12–18 Monate</a:t>
            </a:r>
            <a:endParaRPr lang="en-US" sz="950" dirty="0"/>
          </a:p>
        </p:txBody>
      </p:sp>
      <p:sp>
        <p:nvSpPr>
          <p:cNvPr id="38" name="Shape 26"/>
          <p:cNvSpPr/>
          <p:nvPr/>
        </p:nvSpPr>
        <p:spPr>
          <a:xfrm>
            <a:off x="8046720" y="5486400"/>
            <a:ext cx="3520440" cy="868680"/>
          </a:xfrm>
          <a:prstGeom prst="rect">
            <a:avLst/>
          </a:prstGeom>
          <a:solidFill>
            <a:srgbClr val="C9A24B">
              <a:alpha val="15000"/>
            </a:srgbClr>
          </a:solidFill>
          <a:ln w="9525">
            <a:solidFill>
              <a:srgbClr val="C9A24B"/>
            </a:solidFill>
            <a:prstDash val="solid"/>
          </a:ln>
        </p:spPr>
      </p:sp>
      <p:sp>
        <p:nvSpPr>
          <p:cNvPr id="39" name="Text 27"/>
          <p:cNvSpPr/>
          <p:nvPr/>
        </p:nvSpPr>
        <p:spPr>
          <a:xfrm>
            <a:off x="8183880" y="555955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Homecare-Cross-Sell</a:t>
            </a:r>
            <a:endParaRPr lang="en-US" sz="1100" dirty="0"/>
          </a:p>
        </p:txBody>
      </p:sp>
      <p:sp>
        <p:nvSpPr>
          <p:cNvPr id="40" name="Text 28"/>
          <p:cNvSpPr/>
          <p:nvPr/>
        </p:nvSpPr>
        <p:spPr>
          <a:xfrm>
            <a:off x="8183880" y="583387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Stoma/Wundversorgung in AlltagsEngel-App vermittelbar — pflegende Angehörige als Eingangstor</a:t>
            </a:r>
            <a:endParaRPr lang="en-US" sz="950" dirty="0"/>
          </a:p>
        </p:txBody>
      </p:sp>
      <p:pic>
        <p:nvPicPr>
          <p:cNvPr id="41" name="Image 10" descr="logo-mark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42" name="Shape 29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43" name="Text 30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44" name="Text 31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486400" cy="5486400"/>
          </a:xfrm>
          <a:prstGeom prst="ellipse">
            <a:avLst/>
          </a:prstGeom>
          <a:solidFill>
            <a:srgbClr val="C9A24B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448495" y="-1828800"/>
            <a:ext cx="4572000" cy="4572000"/>
          </a:xfrm>
          <a:prstGeom prst="ellipse">
            <a:avLst/>
          </a:prstGeom>
          <a:solidFill>
            <a:srgbClr val="C9A24B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5" name="Image 0" descr="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5775" y="457200"/>
            <a:ext cx="91440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9144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DANKE.</a:t>
            </a:r>
            <a:endParaRPr lang="en-US" sz="8000" dirty="0"/>
          </a:p>
        </p:txBody>
      </p:sp>
      <p:sp>
        <p:nvSpPr>
          <p:cNvPr id="7" name="Text 4"/>
          <p:cNvSpPr/>
          <p:nvPr/>
        </p:nvSpPr>
        <p:spPr>
          <a:xfrm>
            <a:off x="731520" y="21945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E0C6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Lass uns die Pflege in Deutschland neu bauen.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731520" y="3063240"/>
            <a:ext cx="457200" cy="2743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3246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KONTAKT</a:t>
            </a:r>
            <a:endParaRPr lang="en-US" sz="11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685032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43000" y="3657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Yusuf Ferhat Demir — Gründer &amp; CEO</a:t>
            </a:r>
            <a:endParaRPr lang="en-US" sz="14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096512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43000" y="4069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+49 178 338 2825</a:t>
            </a:r>
            <a:endParaRPr lang="en-US" sz="14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07992"/>
            <a:ext cx="274320" cy="27432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143000" y="4480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info@alltagsengel.care</a:t>
            </a:r>
            <a:endParaRPr lang="en-US" sz="140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919472"/>
            <a:ext cx="274320" cy="27432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143000" y="4892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 UG (i.G.) · Frankfurt am Main</a:t>
            </a:r>
            <a:endParaRPr lang="en-US" sz="140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330952"/>
            <a:ext cx="274320" cy="274320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143000" y="5303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alltagsengel.care</a:t>
            </a:r>
            <a:endParaRPr lang="en-US" sz="1400" dirty="0"/>
          </a:p>
        </p:txBody>
      </p:sp>
      <p:sp>
        <p:nvSpPr>
          <p:cNvPr id="20" name="Text 12"/>
          <p:cNvSpPr/>
          <p:nvPr/>
        </p:nvSpPr>
        <p:spPr>
          <a:xfrm>
            <a:off x="731520" y="6126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Vertraulich · Für ProCare Deutschland &amp; PROLIFE homecare GmbH · April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AlltagsEngel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AlltagsEngel — Investor Pitch Deck</dc:title>
  <dc:subject>PptxGenJS Presentation</dc:subject>
  <dc:creator>AlltagsEngel UG</dc:creator>
  <cp:lastModifiedBy>AlltagsEngel UG</cp:lastModifiedBy>
  <cp:revision>1</cp:revision>
  <dcterms:created xsi:type="dcterms:W3CDTF">2026-04-20T22:48:58Z</dcterms:created>
  <dcterms:modified xsi:type="dcterms:W3CDTF">2026-04-20T22:48:58Z</dcterms:modified>
</cp:coreProperties>
</file>