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612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1A1612"/>
                </a:solidFill>
                <a:latin typeface="Georgia"/>
              </a:rPr>
              <a:t>Umsatz &amp; Brutto-Marge (Szenario)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Umsatz (T€)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780</c:v>
                </c:pt>
                <c:pt idx="2">
                  <c:v>2650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Brutto-Marge (T€)</c:v>
                </c:pt>
              </c:strCache>
            </c:strRef>
          </c:tx>
          <c:spPr>
            <a:solidFill>
              <a:srgbClr val="1A16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</c:v>
                </c:pt>
                <c:pt idx="1">
                  <c:v>234</c:v>
                </c:pt>
                <c:pt idx="2">
                  <c:v>1060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6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241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3D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F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241D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AE3D4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-1371600"/>
            <a:ext cx="5486400" cy="5486400"/>
          </a:xfrm>
          <a:prstGeom prst="ellipse">
            <a:avLst/>
          </a:prstGeom>
          <a:solidFill>
            <a:srgbClr val="C9A24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91295" y="4114800"/>
            <a:ext cx="3657600" cy="3657600"/>
          </a:xfrm>
          <a:prstGeom prst="ellipse">
            <a:avLst/>
          </a:prstGeom>
          <a:solidFill>
            <a:srgbClr val="B85042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| PRE-SEED 2026</a:t>
            </a:r>
            <a:endParaRPr lang="en-US" sz="1200" dirty="0"/>
          </a:p>
        </p:txBody>
      </p:sp>
      <p:pic>
        <p:nvPicPr>
          <p:cNvPr id="6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1463040" cy="804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2860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AF6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digitale Alltagshilfe für Deutschlands 5 Mio. Pflegebedürftige.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 SGB XI · Krankenfahrten · Pflegeboxen · Monats-Abo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31520" y="5394960"/>
            <a:ext cx="27432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577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&amp; CEO · AlltagsEngel UG (haftungsbeschränkt) · HRB 140351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076895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| Frankfurt ·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131 € im Monat. Jeden Monat. Ungenutzt.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der 5,2 Mio. Pflegebedürftigen in Deutschland hat Anspruch auf §45b SGB XI — 131 € monatlich für Alltagshilfen von der Kasse bezahlt. Doch über 60 % verfallen Jahr für Jahr ungenutzt.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36118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00584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Verfallsquote §45b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Leistungen werden nicht abgerufen — zu komplex, zu bürokratisch, keine digitale Schnittstelle.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8912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912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1188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3–6 Wo.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475488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Wartezeit auf Hilfe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5488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Traditionelle Pflegedienste haben Wartelisten. Angehörige sind verzweifelt, Kunden allein.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3816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3816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1188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392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4800" dirty="0"/>
          </a:p>
        </p:txBody>
      </p:sp>
      <p:sp>
        <p:nvSpPr>
          <p:cNvPr id="21" name="Text 16"/>
          <p:cNvSpPr/>
          <p:nvPr/>
        </p:nvSpPr>
        <p:spPr>
          <a:xfrm>
            <a:off x="850392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Fragmentiertes System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50392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Kasse, Sanitätshaus, Fahrdienst, Hilfe, Box — alles getrennt. Ein Chaos für pflegende Angehörige.</a:t>
            </a:r>
            <a:endParaRPr lang="en-US" sz="1100" dirty="0"/>
          </a:p>
        </p:txBody>
      </p:sp>
      <p:pic>
        <p:nvPicPr>
          <p:cNvPr id="23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LÖSUNG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App. Ein Login. Alles für Alltag und Entlastung.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108960" cy="4297680"/>
          </a:xfrm>
          <a:prstGeom prst="roundRect">
            <a:avLst>
              <a:gd name="adj" fmla="val 7353"/>
            </a:avLst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77440"/>
            <a:ext cx="2834640" cy="3749040"/>
          </a:xfrm>
          <a:prstGeom prst="roundRect">
            <a:avLst>
              <a:gd name="adj" fmla="val 3226"/>
            </a:avLst>
          </a:prstGeom>
          <a:solidFill>
            <a:srgbClr val="FAF6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7432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· Fahrt · Pflegebox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148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05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148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48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Abrechnen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297680" y="210312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258568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5780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nach §45b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5257800" y="248716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Einkaufen bis zum Arzttermin — zertifizierte Engel, direkt in der App gebucht und von der Kasse abgerechnet.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297680" y="310896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3264408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57800" y="3108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 &amp; Taxi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5257800" y="349300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Arzt, zur Reha, zur Dialyse. Rezept hochladen, Fahrt buchen, AlltagsEngel kümmert sich um die Abrechnung.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297680" y="411480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4270248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1148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(§40)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257800" y="44988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42 €/Monat Pflegehilfsmittel-Pauschale — automatischer Monatsversand, kein Papierkram für die Angehörigen.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297680" y="512064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5276088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5780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Monats-Abo Premium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5257800" y="550468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Koordinierter Komplett-Service mit festem Engel, Priorisierung und persönlichem Care-Manager.</a:t>
            </a:r>
            <a:endParaRPr lang="en-US" sz="1150" dirty="0"/>
          </a:p>
        </p:txBody>
      </p:sp>
      <p:pic>
        <p:nvPicPr>
          <p:cNvPr id="33" name="Image 5" descr="logo-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5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JETZT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perfekte Moment — demografisch, digital, regulatorisch.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5,2 Mio.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87452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in Deutschland 2025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6888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+7,6 Mrd €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54380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Jährliches §45b-Budget (60 % verfällt)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0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79 %</a:t>
            </a:r>
            <a:endParaRPr lang="en-US" sz="4400" dirty="0"/>
          </a:p>
        </p:txBody>
      </p:sp>
      <p:sp>
        <p:nvSpPr>
          <p:cNvPr id="18" name="Text 13"/>
          <p:cNvSpPr/>
          <p:nvPr/>
        </p:nvSpPr>
        <p:spPr>
          <a:xfrm>
            <a:off x="187452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65+ smartphone-affin (Bitkom 2025)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572000"/>
            <a:ext cx="640080" cy="640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+24 %</a:t>
            </a:r>
            <a:endParaRPr lang="en-US" sz="4400" dirty="0"/>
          </a:p>
        </p:txBody>
      </p:sp>
      <p:sp>
        <p:nvSpPr>
          <p:cNvPr id="23" name="Text 17"/>
          <p:cNvSpPr/>
          <p:nvPr/>
        </p:nvSpPr>
        <p:spPr>
          <a:xfrm>
            <a:off x="754380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bis 2030 (Destatis)</a:t>
            </a:r>
            <a:endParaRPr lang="en-US" sz="1200" dirty="0"/>
          </a:p>
        </p:txBody>
      </p:sp>
      <p:pic>
        <p:nvPicPr>
          <p:cNvPr id="24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PRODUKT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Plattform, drei Rollen, vollständig integriert.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2402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Kunde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&amp; Angehörige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0584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 &amp; buchen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Krankenfahrten beantragen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 monatlich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Rezepte hochladen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mit Care-Manager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24028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Engel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434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Alltagshelfer &amp; Engel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70916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Aufträge im Umkreis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Kalender-Integration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System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20–25 €/h ab Tag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4672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Fahrer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04672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Krankentransport-Partner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41248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Rezept-basiertes Matching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GPS-Routing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Kassen-Direktabrechnung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Fahrzeug-Verwaltung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Tour-Optimierung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solidFill>
            <a:srgbClr val="C9A24B">
              <a:alpha val="2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INTEGRIERT: Ein Kunde bucht Engel + Fahrt + Box in einem Flow — alles abgerechnet über eine Schnittstelle.</a:t>
            </a:r>
            <a:endParaRPr lang="en-US" sz="1200" dirty="0"/>
          </a:p>
        </p:txBody>
      </p:sp>
      <p:pic>
        <p:nvPicPr>
          <p:cNvPr id="24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2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Vier Einnahmequellen. Alle wiederkehrend.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67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§45b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91640" y="25328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 zahlt · Engel bekommt 20–25 € · Marge ~7,50 €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0" y="2167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32,50 €/h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0" y="260604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0" y="2606040"/>
            <a:ext cx="132588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9"/>
          <p:cNvSpPr/>
          <p:nvPr/>
        </p:nvSpPr>
        <p:spPr>
          <a:xfrm>
            <a:off x="10607040" y="2560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vom Umsatz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68680" y="306324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5468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91640" y="3035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91640" y="34015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Pauschale auf Kassen-Erstattung · skalierbar mit Flotte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8680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~8 €/Fahrt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686800" y="347472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0" name="Shape 16"/>
          <p:cNvSpPr/>
          <p:nvPr/>
        </p:nvSpPr>
        <p:spPr>
          <a:xfrm>
            <a:off x="8686800" y="3474720"/>
            <a:ext cx="66294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1" name="Text 17"/>
          <p:cNvSpPr/>
          <p:nvPr/>
        </p:nvSpPr>
        <p:spPr>
          <a:xfrm>
            <a:off x="1060704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vom Umsatz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40080" y="379476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68680" y="393192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2336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§40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1691640" y="42702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 Kassen-Pauschale · Partner-Modell mit ProCare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686800" y="39044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~12 €/Box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8686800" y="434340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9" name="Shape 24"/>
          <p:cNvSpPr/>
          <p:nvPr/>
        </p:nvSpPr>
        <p:spPr>
          <a:xfrm>
            <a:off x="8686800" y="4343400"/>
            <a:ext cx="397764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5"/>
          <p:cNvSpPr/>
          <p:nvPr/>
        </p:nvSpPr>
        <p:spPr>
          <a:xfrm>
            <a:off x="1060704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vom Umsatz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640080" y="466344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68680" y="480060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92040"/>
            <a:ext cx="457200" cy="4572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691640" y="4773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Premium-Abo</a:t>
            </a:r>
            <a:endParaRPr lang="en-US" sz="2000" dirty="0"/>
          </a:p>
        </p:txBody>
      </p:sp>
      <p:sp>
        <p:nvSpPr>
          <p:cNvPr id="35" name="Text 29"/>
          <p:cNvSpPr/>
          <p:nvPr/>
        </p:nvSpPr>
        <p:spPr>
          <a:xfrm>
            <a:off x="1691640" y="51389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Direktzahlung · Familie · Priorität · persönl. Manager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8686800" y="4773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29–49 €/Mo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8686800" y="521208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38" name="Shape 32"/>
          <p:cNvSpPr/>
          <p:nvPr/>
        </p:nvSpPr>
        <p:spPr>
          <a:xfrm>
            <a:off x="8686800" y="5212080"/>
            <a:ext cx="265176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3"/>
          <p:cNvSpPr/>
          <p:nvPr/>
        </p:nvSpPr>
        <p:spPr>
          <a:xfrm>
            <a:off x="10607040" y="5166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vom Umsatz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41" name="Text 35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ARPU (Kunde): 340 €/Monat | Ø Kundenlebensdauer: 28 Monate | LTV: ~9.500 €</a:t>
            </a:r>
            <a:endParaRPr lang="en-US" sz="1300" dirty="0"/>
          </a:p>
        </p:txBody>
      </p:sp>
      <p:pic>
        <p:nvPicPr>
          <p:cNvPr id="4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4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Launch-ready. Erster Kunde an Bord.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554480" y="2560320"/>
            <a:ext cx="36576" cy="3383280"/>
          </a:xfrm>
          <a:prstGeom prst="rect">
            <a:avLst/>
          </a:prstGeom>
          <a:solidFill>
            <a:srgbClr val="C9A24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242316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2487168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377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74520" y="2331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Idee &amp; UG-Gründung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6700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Marktrecherche, UG (haftungsbeschränkt) eingetragen — HRB 140351, erste Prototypen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417320" y="320040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326440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31546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87452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Build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874520" y="3447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Native App, Web-Plattform, Supabase-Backend, RLS-Security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417320" y="397764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404164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57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87452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Launch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874520" y="42245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im App Store &amp; Play Store, Marketing-Launch, erste Kundin (Sabrina) an Bord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417320" y="475488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65760" y="4709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874520" y="4663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Frankfurt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874520" y="50017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aktive Kunden · 20 verifizierte Engel · Erste Krankenfahrten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1417320" y="553212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5760" y="54864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1874520" y="5440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NRW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1874520" y="57790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· Düsseldorf · Partnerschaft mit ProCare &amp; PROLIFE</a:t>
            </a:r>
            <a:endParaRPr lang="en-US" sz="1100" dirty="0"/>
          </a:p>
        </p:txBody>
      </p:sp>
      <p:pic>
        <p:nvPicPr>
          <p:cNvPr id="28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Dominanz-Strategie: Stadt für Stadt.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943600" cy="1280160"/>
          </a:xfrm>
          <a:prstGeom prst="rect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7744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Frankfurt am Main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Start-Stadt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500 Kunden · 80 Engel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9476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Köln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4453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800 Kunden · 120 Engel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21208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12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828800" y="5166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Düsseldorf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82880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5870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600 Kunden · 90 Engel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2103120"/>
            <a:ext cx="4663440" cy="41148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0" y="2103120"/>
            <a:ext cx="82296" cy="4114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2286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GTM-PLAYBOOK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23760" y="2606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Stadt in 90 Tagen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23760" y="3246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863840" y="3227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Engel rekrutieren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3538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Facebook-Gruppen · Minijob-Börsen · AWO/Caritas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23760" y="3931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8638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Sanitätshaus-Allianzen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63840" y="4224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Ko-Marketing · Flyer · QR-Codes im Laden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4617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863840" y="4599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 aktiv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863840" y="4910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Abrechnungsstelle freigeschaltet · §45b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5303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863840" y="52852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Acquisition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0" y="55961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· Google · TV-regional (Senioren-Prime)</a:t>
            </a:r>
            <a:endParaRPr lang="en-US" sz="1000" dirty="0"/>
          </a:p>
        </p:txBody>
      </p:sp>
      <p:pic>
        <p:nvPicPr>
          <p:cNvPr id="38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0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&amp; WETTBEWERB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 besetzen die Lücke zwischen Helpling und Pflegedienst.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94360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11880" y="2377440"/>
            <a:ext cx="0" cy="347472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22960" y="4114800"/>
            <a:ext cx="5577840" cy="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5760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Kassen-abgerechnet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99032" y="281086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99032" y="281086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Helpling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0832" y="4961534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70832" y="496153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HomeInstead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523036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5230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Pflegedienst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74520" y="331012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Curendo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70832" y="292608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 w="19050">
            <a:solidFill>
              <a:srgbClr val="1A161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70832" y="2926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uns unterscheidet</a:t>
            </a:r>
            <a:endParaRPr lang="en-US" sz="22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880360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543800" y="27889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Kassen-Integriert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543800" y="3090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Direktabrechnung mit §45b, §40 und Krankenkassen — keine Vorkasse für den Kunden.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3730752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543800" y="3639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Vollstack statt Punkt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543800" y="394106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+ Fahrt + Box in einer App. Konkurrenz bietet nur eine Vertikale.</a:t>
            </a:r>
            <a:endParaRPr lang="en-US" sz="10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81144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543800" y="44897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(native)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543800" y="47914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+ Web — Live-Server-Updates ohne Store-Release.</a:t>
            </a:r>
            <a:endParaRPr lang="en-US" sz="10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5431536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43800" y="53400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pro Kunde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7543800" y="56418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Ansprechperson, WhatsApp-Kontakt, kein Chatbot-Labyrinth.</a:t>
            </a:r>
            <a:endParaRPr lang="en-US" sz="1050" dirty="0"/>
          </a:p>
        </p:txBody>
      </p:sp>
      <p:pic>
        <p:nvPicPr>
          <p:cNvPr id="3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4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Solo-Founder. Hands-on. Shipping seit Tag 1.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4754880" cy="4114800"/>
          </a:xfrm>
          <a:prstGeom prst="rect">
            <a:avLst/>
          </a:prstGeom>
          <a:solidFill>
            <a:srgbClr val="1A1612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0" y="2514600"/>
            <a:ext cx="1463040" cy="1463040"/>
          </a:xfrm>
          <a:prstGeom prst="ellipse">
            <a:avLst/>
          </a:prstGeom>
          <a:solidFill>
            <a:srgbClr val="C9A24B">
              <a:alpha val="20000"/>
            </a:srgbClr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26060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YFD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Yusuf Ferhat Demir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· CEO · CTO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498348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Frankfurt-basiert, türkisch-deutsche Wurzeln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Product-Led: Idee zu Live-App in 4 Monaten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Full-Stack: iOS, Android, Next.js, Supabase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Community-First: WhatsApp, direkter Kontakt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148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Schlüssel-Hires (mit dem Pre-Seed)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852160" y="265176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0" y="265176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834640"/>
            <a:ext cx="411480" cy="4114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Operations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76656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Stadt-Launches, Engel-Rekrutierung, Qualität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852160" y="352044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0" y="352044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703320"/>
            <a:ext cx="411480" cy="4114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766560" y="3593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(x2)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76656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Persönlicher Kunden-Kontakt, Retention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852160" y="438912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852160" y="438912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72000"/>
            <a:ext cx="411480" cy="4114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766560" y="44622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Marketer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676656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SEO, Senioren-Zielgruppe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5852160" y="525780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852160" y="525780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44068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766560" y="53309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Partner-Manager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6766560" y="5641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Kassen, Sanitätshäuser, ProCare/PROLIFE</a:t>
            </a:r>
            <a:endParaRPr lang="en-US" sz="1050" dirty="0"/>
          </a:p>
        </p:txBody>
      </p:sp>
      <p:pic>
        <p:nvPicPr>
          <p:cNvPr id="31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3" name="Text 26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3-Jahres-Plan: Vom Launch zur NRW-Dominanz.</a:t>
            </a:r>
            <a:endParaRPr lang="en-US" sz="3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10312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210312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06640" y="210312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2.650 T€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Umsatz 2028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06640" y="288036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06640" y="288036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Städte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NRW abgedeckt bis Q4/2027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06640" y="365760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6640" y="365760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1.900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58952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Aktive Kunden Ø 2028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06640" y="443484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06640" y="443484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7589520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340 €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589520" y="4846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pro Monat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06640" y="521208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521208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3" name="Text 20"/>
          <p:cNvSpPr/>
          <p:nvPr/>
        </p:nvSpPr>
        <p:spPr>
          <a:xfrm>
            <a:off x="7589520" y="5257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2028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589520" y="5623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Operativer Break-Even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Basisszenario · Konservativ · Detaillierter Financial-Model (Excel) separat im Due-Diligence-Paket.</a:t>
            </a:r>
            <a:endParaRPr lang="en-US" sz="900" dirty="0"/>
          </a:p>
        </p:txBody>
      </p:sp>
      <p:pic>
        <p:nvPicPr>
          <p:cNvPr id="26" name="Image 0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8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1,5 Mio €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25 % Equity · Pre-Money 4,5 Mio € · 27 Monate Runway bis Profitabilität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3474720"/>
            <a:ext cx="2157984" cy="196596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768" y="3675888"/>
            <a:ext cx="475488" cy="4754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42519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38 %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04672" y="4773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(5 Hires)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4672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Ops, 2× Care-Mgr, Growth, Partner-Mgr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026664" y="3474720"/>
            <a:ext cx="2157984" cy="196596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912" y="367588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026664" y="42519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22 %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3099816" y="4773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099816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SEO, Apotheken, PR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5321808" y="3474720"/>
            <a:ext cx="2157984" cy="196596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3056" y="3675888"/>
            <a:ext cx="475488" cy="4754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321808" y="42519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11 %</a:t>
            </a:r>
            <a:endParaRPr lang="en-US" sz="2800" dirty="0"/>
          </a:p>
        </p:txBody>
      </p:sp>
      <p:sp>
        <p:nvSpPr>
          <p:cNvPr id="19" name="Text 14"/>
          <p:cNvSpPr/>
          <p:nvPr/>
        </p:nvSpPr>
        <p:spPr>
          <a:xfrm>
            <a:off x="5394960" y="4773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Gründer-Gehalt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5394960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F. Demir, CEO/CTO · 6 T€/Mon brutto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7616952" y="3474720"/>
            <a:ext cx="2157984" cy="196596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3675888"/>
            <a:ext cx="475488" cy="4754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16952" y="42519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13 %</a:t>
            </a:r>
            <a:endParaRPr lang="en-US" sz="2800" dirty="0"/>
          </a:p>
        </p:txBody>
      </p:sp>
      <p:sp>
        <p:nvSpPr>
          <p:cNvPr id="24" name="Text 18"/>
          <p:cNvSpPr/>
          <p:nvPr/>
        </p:nvSpPr>
        <p:spPr>
          <a:xfrm>
            <a:off x="7690104" y="4773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DE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7690104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Q1/27 · Düsseldorf Q3/27 · Berlin Q2/28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9912096" y="3474720"/>
            <a:ext cx="2157984" cy="196596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3344" y="3675888"/>
            <a:ext cx="475488" cy="47548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912096" y="42519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16 %</a:t>
            </a:r>
            <a:endParaRPr lang="en-US" sz="2800" dirty="0"/>
          </a:p>
        </p:txBody>
      </p:sp>
      <p:sp>
        <p:nvSpPr>
          <p:cNvPr id="29" name="Text 22"/>
          <p:cNvSpPr/>
          <p:nvPr/>
        </p:nvSpPr>
        <p:spPr>
          <a:xfrm>
            <a:off x="9985248" y="4773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Ops, Tech, Setup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9985248" y="5047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· Büro · Auto · Recht · Puffer</a:t>
            </a:r>
            <a:endParaRPr lang="en-US" sz="850" dirty="0"/>
          </a:p>
        </p:txBody>
      </p:sp>
      <p:sp>
        <p:nvSpPr>
          <p:cNvPr id="31" name="Text 24"/>
          <p:cNvSpPr/>
          <p:nvPr/>
        </p:nvSpPr>
        <p:spPr>
          <a:xfrm>
            <a:off x="731520" y="557784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Ops-Bucket:  Tech &amp; Infrastruktur 5,5 %  ·  Recht/Notar/Versicherung 3,0 %  ·  Büro &amp; Co-Working 2,0 %  ·  Firmenwagen 1,5 %  ·  Puffer 4,0 %</a:t>
            </a:r>
            <a:endParaRPr lang="en-US" sz="950" dirty="0"/>
          </a:p>
        </p:txBody>
      </p:sp>
      <p:sp>
        <p:nvSpPr>
          <p:cNvPr id="32" name="Text 25"/>
          <p:cNvSpPr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Mio bringt uns BIS ZUR PROFITABILITÄT (Q3/2028) — keine zweite Runde nötig, keine Verwässerung für PROLIFE</a:t>
            </a:r>
            <a:endParaRPr lang="en-US" sz="1200" dirty="0"/>
          </a:p>
        </p:txBody>
      </p:sp>
      <p:pic>
        <p:nvPicPr>
          <p:cNvPr id="33" name="Image 5" descr="logo-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5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ProCare + AlltagsEngel perfekt passen.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292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 · PROLIFE · care integral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1752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Mitarbeiter, Hessen/Schleswig-Holstein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Pflegehilfsmittel-Logistik, forma-care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Verträge mit allen Krankenkassen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5196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8016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Stoma, Wunde, Inkontinenz, Ernährung</a:t>
            </a:r>
            <a:endParaRPr lang="en-US" sz="12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66344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Apotheken- &amp; Sanitätshaus-Netzwerk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492240" y="2148840"/>
            <a:ext cx="50292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2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17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017520"/>
            <a:ext cx="228600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Plattform · iOS + Android + Web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429000"/>
            <a:ext cx="228600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§45b-Direktkontakt zum Endkunden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840480"/>
            <a:ext cx="228600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Alltagshilfen, Krankenfahrten, Abo</a:t>
            </a:r>
            <a:endParaRPr lang="en-US" sz="120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4251960"/>
            <a:ext cx="228600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713232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Care-Manager-Beziehung pro Haushalt</a:t>
            </a:r>
            <a:endParaRPr lang="en-US" sz="120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60" y="4663440"/>
            <a:ext cx="228600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713232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Performance-Marketing &amp; Daten-First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5486400" y="3383280"/>
            <a:ext cx="548640" cy="548640"/>
          </a:xfrm>
          <a:prstGeom prst="ellipse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548640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800" dirty="0"/>
          </a:p>
        </p:txBody>
      </p:sp>
      <p:sp>
        <p:nvSpPr>
          <p:cNvPr id="32" name="Shape 20"/>
          <p:cNvSpPr/>
          <p:nvPr/>
        </p:nvSpPr>
        <p:spPr>
          <a:xfrm>
            <a:off x="64008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77724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Pflegebox-Direktversand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7724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ProCare-Produkte im AlltagsEngel-Abo — 42 €/Mo pro Kunde, 1.900 Kunden = 957 T€/Jahr</a:t>
            </a:r>
            <a:endParaRPr lang="en-US" sz="950" dirty="0"/>
          </a:p>
        </p:txBody>
      </p:sp>
      <p:sp>
        <p:nvSpPr>
          <p:cNvPr id="35" name="Shape 23"/>
          <p:cNvSpPr/>
          <p:nvPr/>
        </p:nvSpPr>
        <p:spPr>
          <a:xfrm>
            <a:off x="434340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448056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Kassen-Abrechnungs-Rails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448056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PROLIFE's existierende Kassen-Verträge beschleunigen §45b-Rollout um 12–18 Monate</a:t>
            </a:r>
            <a:endParaRPr lang="en-US" sz="950" dirty="0"/>
          </a:p>
        </p:txBody>
      </p:sp>
      <p:sp>
        <p:nvSpPr>
          <p:cNvPr id="38" name="Shape 26"/>
          <p:cNvSpPr/>
          <p:nvPr/>
        </p:nvSpPr>
        <p:spPr>
          <a:xfrm>
            <a:off x="804672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9" name="Text 27"/>
          <p:cNvSpPr/>
          <p:nvPr/>
        </p:nvSpPr>
        <p:spPr>
          <a:xfrm>
            <a:off x="818388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Homecare-Cross-Sell</a:t>
            </a:r>
            <a:endParaRPr lang="en-US" sz="1100" dirty="0"/>
          </a:p>
        </p:txBody>
      </p:sp>
      <p:sp>
        <p:nvSpPr>
          <p:cNvPr id="40" name="Text 28"/>
          <p:cNvSpPr/>
          <p:nvPr/>
        </p:nvSpPr>
        <p:spPr>
          <a:xfrm>
            <a:off x="818388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Stoma/Wundversorgung in AlltagsEngel-App vermittelbar — pflegende Angehörige als Eingangstor</a:t>
            </a:r>
            <a:endParaRPr lang="en-US" sz="950" dirty="0"/>
          </a:p>
        </p:txBody>
      </p:sp>
      <p:pic>
        <p:nvPicPr>
          <p:cNvPr id="41" name="Image 10" descr="logo-ma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2" name="Shape 2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3" name="Text 3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4" name="Text 3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C9A24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828800"/>
            <a:ext cx="4572000" cy="4572000"/>
          </a:xfrm>
          <a:prstGeom prst="ellipse">
            <a:avLst/>
          </a:prstGeom>
          <a:solidFill>
            <a:srgbClr val="C9A24B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457200"/>
            <a:ext cx="91440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9144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DANKE.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Lass uns Alltagshilfe und Entlastung neu bauen.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31520" y="3063240"/>
            <a:ext cx="457200" cy="2743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8503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 — Gründer &amp; CEO</a:t>
            </a:r>
            <a:endParaRPr lang="en-US" sz="14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9651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+49 178 338 2825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0799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4300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info@alltagsengel.care</a:t>
            </a:r>
            <a:endParaRPr lang="en-US" sz="14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919472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4300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 UG (haftungsbeschränkt) · HRB 140351 · Neue Mainzer Straße 66-68, 60311 Frankfurt a. M.</a:t>
            </a:r>
            <a:endParaRPr lang="en-US" sz="14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330952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4300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alltagsengel.care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· Für ProCare Deutschland &amp; PROLIFE homecare GmbH · April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AlltagsEngel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AlltagsEngel — Investor Pitch Deck</dc:title>
  <dc:subject>PptxGenJS Presentation</dc:subject>
  <dc:creator>AlltagsEngel UG</dc:creator>
  <cp:lastModifiedBy>AlltagsEngel UG</cp:lastModifiedBy>
  <cp:revision>1</cp:revision>
  <dcterms:created xsi:type="dcterms:W3CDTF">2026-04-29T08:37:41Z</dcterms:created>
  <dcterms:modified xsi:type="dcterms:W3CDTF">2026-04-29T08:37:41Z</dcterms:modified>
</cp:coreProperties>
</file>