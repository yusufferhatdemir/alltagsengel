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612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1A1612"/>
                </a:solidFill>
                <a:latin typeface="Georgia"/>
              </a:rPr>
              <a:t>Umsatz &amp; Brutto-Marge (Szenario)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Umsatz (T€)</c:v>
                </c:pt>
              </c:strCache>
            </c:strRef>
          </c:tx>
          <c:spPr>
            <a:solidFill>
              <a:srgbClr val="C9A2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6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780</c:v>
                </c:pt>
                <c:pt idx="2">
                  <c:v>2650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Brutto-Marge (T€)</c:v>
                </c:pt>
              </c:strCache>
            </c:strRef>
          </c:tx>
          <c:spPr>
            <a:solidFill>
              <a:srgbClr val="1A16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61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</c:v>
                </c:pt>
                <c:pt idx="1">
                  <c:v>234</c:v>
                </c:pt>
                <c:pt idx="2">
                  <c:v>1060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61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41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3D4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F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A241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AE3D4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Shape 1"/>
          <p:cNvSpPr/>
          <p:nvPr/>
        </p:nvSpPr>
        <p:spPr>
          <a:xfrm>
            <a:off x="8076895" y="-1371600"/>
            <a:ext cx="5486400" cy="5486400"/>
          </a:xfrm>
          <a:prstGeom prst="ellipse">
            <a:avLst/>
          </a:prstGeom>
          <a:solidFill>
            <a:srgbClr val="C9A24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991295" y="4114800"/>
            <a:ext cx="3657600" cy="3657600"/>
          </a:xfrm>
          <a:prstGeom prst="ellipse">
            <a:avLst/>
          </a:prstGeom>
          <a:solidFill>
            <a:srgbClr val="B85042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| PRE-SEED 2026</a:t>
            </a:r>
            <a:endParaRPr lang="en-US" sz="1200" dirty="0"/>
          </a:p>
        </p:txBody>
      </p:sp>
      <p:pic>
        <p:nvPicPr>
          <p:cNvPr id="6" name="Image 0" descr="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1463040" cy="804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8600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F6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digitale Alltagshilfe für Deutschlands 5 Mio. Pflegebedürftige.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E0C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 SGB XI · Krankenfahrten · Pflegeboxen · Monats-Abo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5394960"/>
            <a:ext cx="27432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5577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Ferhat Demir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Gründer &amp; CEO · AlltagsEngel UG (haftungsbeschränkt) · HRB 140351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076895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| Frankfurt ·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131 € im Monat. Jeden Monat. Ungenutzt.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der 5,2 Mio. Pflegebedürftigen in Deutschland hat Anspruch auf §45b SGB XI — 131 € monatlich für Alltagshilfen von der Kasse bezahlt. Doch über 60 % verfallen Jahr für Jahr ungenutzt.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35661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3246120"/>
            <a:ext cx="3566160" cy="73152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611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4297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00584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Verfallsquote §45b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 werden nicht abgerufen — zu komplex, zu bürokratisch, keine digitale Schnittstelle.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3246120"/>
            <a:ext cx="35661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3246120"/>
            <a:ext cx="3566160" cy="73152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36118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4297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3–6 Wo.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475488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Wartezeit auf Hilfe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5488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Traditionelle Pflegedienste haben Wartelisten. Angehörige sind verzweifelt, Kunden allein.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3246120"/>
            <a:ext cx="35661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38160" y="3246120"/>
            <a:ext cx="3566160" cy="73152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1188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03920" y="4297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4800" dirty="0"/>
          </a:p>
        </p:txBody>
      </p:sp>
      <p:sp>
        <p:nvSpPr>
          <p:cNvPr id="21" name="Text 16"/>
          <p:cNvSpPr/>
          <p:nvPr/>
        </p:nvSpPr>
        <p:spPr>
          <a:xfrm>
            <a:off x="850392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Fragmentiertes System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503920" y="5394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Kasse, Sanitätshaus, Fahrdienst, Hilfe, Box — alles getrennt. Ein Chaos für pflegende Angehörige.</a:t>
            </a:r>
            <a:endParaRPr lang="en-US" sz="1100" dirty="0"/>
          </a:p>
        </p:txBody>
      </p:sp>
      <p:pic>
        <p:nvPicPr>
          <p:cNvPr id="23" name="Image 3" descr="log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5" name="Text 19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App. Ein Login. Alles für Alltag und Entlastung.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108960" cy="4297680"/>
          </a:xfrm>
          <a:prstGeom prst="roundRect">
            <a:avLst>
              <a:gd name="adj" fmla="val 7353"/>
            </a:avLst>
          </a:prstGeom>
          <a:solidFill>
            <a:srgbClr val="1A1612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377440"/>
            <a:ext cx="2834640" cy="3749040"/>
          </a:xfrm>
          <a:prstGeom prst="roundRect">
            <a:avLst>
              <a:gd name="adj" fmla="val 3226"/>
            </a:avLst>
          </a:prstGeom>
          <a:solidFill>
            <a:srgbClr val="FAF6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74320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611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Hilfe · Fahrt · Pflegebox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005840" y="45262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C9A24B">
              <a:alpha val="15000"/>
            </a:srgbClr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finden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148840" y="45262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C9A24B">
              <a:alpha val="15000"/>
            </a:srgbClr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48840" y="4617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Krankenfahrt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005840" y="53035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C9A24B">
              <a:alpha val="15000"/>
            </a:srgbClr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Pflegebox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148840" y="530352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C9A24B">
              <a:alpha val="15000"/>
            </a:srgbClr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48840" y="5394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Abrechnen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297680" y="2103120"/>
            <a:ext cx="777240" cy="77724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258568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57800" y="21031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Alltagshilfen nach §45b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257800" y="248716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Einkaufen bis zum Arzttermin — zertifizierte Engel, direkt in der App gebucht und von der Kasse abgerechnet.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297680" y="3108960"/>
            <a:ext cx="777240" cy="77724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326440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57800" y="3108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Krankenfahrten &amp; Taxi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257800" y="349300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Arzt, zur Reha, zur Dialyse. Rezept hochladen, Fahrt buchen, AlltagsEngel kümmert sich um die Abrechnung.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297680" y="4114800"/>
            <a:ext cx="777240" cy="77724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427024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57800" y="4114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Pflegeboxen (§40)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5257800" y="449884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42 €/Monat Pflegehilfsmittel-Pauschale — automatischer Monatsversand, kein Papierkram für die Angehörigen.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297680" y="5120640"/>
            <a:ext cx="777240" cy="77724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5276088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57800" y="51206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Monats-Abo Premium</a:t>
            </a:r>
            <a:endParaRPr lang="en-US" sz="1800" dirty="0"/>
          </a:p>
        </p:txBody>
      </p:sp>
      <p:sp>
        <p:nvSpPr>
          <p:cNvPr id="32" name="Text 25"/>
          <p:cNvSpPr/>
          <p:nvPr/>
        </p:nvSpPr>
        <p:spPr>
          <a:xfrm>
            <a:off x="5257800" y="5504688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Koordinierter Komplett-Service mit festem Engel, Priorisierung und persönlichem Care-Manager.</a:t>
            </a:r>
            <a:endParaRPr lang="en-US" sz="1150" dirty="0"/>
          </a:p>
        </p:txBody>
      </p:sp>
      <p:pic>
        <p:nvPicPr>
          <p:cNvPr id="33" name="Image 5" descr="logo-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5" name="Text 27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JETZT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perfekte Moment — demografisch, digital, regulatorisch.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148840"/>
            <a:ext cx="82296" cy="187452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4688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5,2 Mio.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1874520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Pflegebedürftige in Deutschland 2025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2148840"/>
            <a:ext cx="82296" cy="187452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4688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3774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+7,6 Mrd €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7543800" y="32461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Jährliches §45b-Budget (60 % verfällt)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4251960"/>
            <a:ext cx="82296" cy="187452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480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79 %</a:t>
            </a:r>
            <a:endParaRPr lang="en-US" sz="4400" dirty="0"/>
          </a:p>
        </p:txBody>
      </p:sp>
      <p:sp>
        <p:nvSpPr>
          <p:cNvPr id="18" name="Text 13"/>
          <p:cNvSpPr/>
          <p:nvPr/>
        </p:nvSpPr>
        <p:spPr>
          <a:xfrm>
            <a:off x="1874520" y="5349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65+ smartphone-affin (Bitkom 2025)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251960"/>
            <a:ext cx="54406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4251960"/>
            <a:ext cx="82296" cy="187452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57200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4805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+24 %</a:t>
            </a:r>
            <a:endParaRPr lang="en-US" sz="4400" dirty="0"/>
          </a:p>
        </p:txBody>
      </p:sp>
      <p:sp>
        <p:nvSpPr>
          <p:cNvPr id="23" name="Text 17"/>
          <p:cNvSpPr/>
          <p:nvPr/>
        </p:nvSpPr>
        <p:spPr>
          <a:xfrm>
            <a:off x="7543800" y="53492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Pflegebedürftige bis 2030 (Destatis)</a:t>
            </a:r>
            <a:endParaRPr lang="en-US" sz="1200" dirty="0"/>
          </a:p>
        </p:txBody>
      </p:sp>
      <p:pic>
        <p:nvPicPr>
          <p:cNvPr id="24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Text 19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PRODUKT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Plattform, drei Rollen, vollständig integriert.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3566160" cy="1097280"/>
          </a:xfrm>
          <a:prstGeom prst="rect">
            <a:avLst/>
          </a:prstGeom>
          <a:solidFill>
            <a:srgbClr val="1A161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2402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6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Pflegebedürftige &amp; Angehörige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05840" y="36576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finden &amp; buchen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Krankenfahrten beantragen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Pflegebox monatlich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Rezepte hochladen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mit Care-Manager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057400"/>
            <a:ext cx="3566160" cy="1097280"/>
          </a:xfrm>
          <a:prstGeom prst="rect">
            <a:avLst/>
          </a:prstGeom>
          <a:solidFill>
            <a:srgbClr val="1A161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402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6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Engel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34340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Alltagshelfer &amp; Engel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709160" y="36576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Aufträge im Umkreis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Kalender-Integration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Abrechnung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Verified-Badge System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20–25 €/h ab Tag 1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205740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046720" y="2057400"/>
            <a:ext cx="3566160" cy="1097280"/>
          </a:xfrm>
          <a:prstGeom prst="rect">
            <a:avLst/>
          </a:prstGeom>
          <a:solidFill>
            <a:srgbClr val="1A161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22402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4672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C6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Fahrer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04672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Krankentransport-Partner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12480" y="365760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Rezept-basiertes Matching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GPS-Routing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Kassen-Direktabrechnung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Fahrzeug-Verwaltung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Tour-Optimierung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5897880"/>
            <a:ext cx="10881360" cy="411480"/>
          </a:xfrm>
          <a:prstGeom prst="rect">
            <a:avLst/>
          </a:prstGeom>
          <a:solidFill>
            <a:srgbClr val="C9A24B">
              <a:alpha val="2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INTEGRIERT: Ein Kunde bucht Engel + Fahrt + Box in einem Flow — alles abgerechnet über eine Schnittstelle.</a:t>
            </a:r>
            <a:endParaRPr lang="en-US" sz="1200" dirty="0"/>
          </a:p>
        </p:txBody>
      </p:sp>
      <p:pic>
        <p:nvPicPr>
          <p:cNvPr id="24" name="Image 3" descr="log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Text 20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Einnahmequellen. Alle wiederkehrend.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86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67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Alltagshilfen §45b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91640" y="25328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 zahlt · Engel bekommt 20–25 € · Marge ~7,50 €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686800" y="2167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32,50 €/h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686800" y="2606040"/>
            <a:ext cx="2651760" cy="164592"/>
          </a:xfrm>
          <a:prstGeom prst="rect">
            <a:avLst/>
          </a:prstGeom>
          <a:solidFill>
            <a:srgbClr val="EAE3D4"/>
          </a:solidFill>
          <a:ln/>
        </p:spPr>
      </p:sp>
      <p:sp>
        <p:nvSpPr>
          <p:cNvPr id="11" name="Shape 8"/>
          <p:cNvSpPr/>
          <p:nvPr/>
        </p:nvSpPr>
        <p:spPr>
          <a:xfrm>
            <a:off x="8686800" y="2606040"/>
            <a:ext cx="1325880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9"/>
          <p:cNvSpPr/>
          <p:nvPr/>
        </p:nvSpPr>
        <p:spPr>
          <a:xfrm>
            <a:off x="10607040" y="2560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vom Umsatz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92608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8680" y="3063240"/>
            <a:ext cx="640080" cy="64008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5468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Krankenfahrten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691640" y="340156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Pauschale auf Kassen-Erstattung · skalierbar mit Flotte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686800" y="3035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~8 €/Fahrt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686800" y="3474720"/>
            <a:ext cx="2651760" cy="164592"/>
          </a:xfrm>
          <a:prstGeom prst="rect">
            <a:avLst/>
          </a:prstGeom>
          <a:solidFill>
            <a:srgbClr val="EAE3D4"/>
          </a:solidFill>
          <a:ln/>
        </p:spPr>
      </p:sp>
      <p:sp>
        <p:nvSpPr>
          <p:cNvPr id="20" name="Shape 16"/>
          <p:cNvSpPr/>
          <p:nvPr/>
        </p:nvSpPr>
        <p:spPr>
          <a:xfrm>
            <a:off x="8686800" y="3474720"/>
            <a:ext cx="662940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1" name="Text 17"/>
          <p:cNvSpPr/>
          <p:nvPr/>
        </p:nvSpPr>
        <p:spPr>
          <a:xfrm>
            <a:off x="10607040" y="3429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vom Umsatz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40080" y="379476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68680" y="3931920"/>
            <a:ext cx="640080" cy="64008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0233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91640" y="3904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Pflegeboxen §40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1691640" y="42702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42 € Kassen-Pauschale · Partner-Modell mit ProCare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686800" y="3904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~12 €/Box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8686800" y="4343400"/>
            <a:ext cx="2651760" cy="164592"/>
          </a:xfrm>
          <a:prstGeom prst="rect">
            <a:avLst/>
          </a:prstGeom>
          <a:solidFill>
            <a:srgbClr val="EAE3D4"/>
          </a:solidFill>
          <a:ln/>
        </p:spPr>
      </p:sp>
      <p:sp>
        <p:nvSpPr>
          <p:cNvPr id="29" name="Shape 24"/>
          <p:cNvSpPr/>
          <p:nvPr/>
        </p:nvSpPr>
        <p:spPr>
          <a:xfrm>
            <a:off x="8686800" y="4343400"/>
            <a:ext cx="397764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0" name="Text 25"/>
          <p:cNvSpPr/>
          <p:nvPr/>
        </p:nvSpPr>
        <p:spPr>
          <a:xfrm>
            <a:off x="10607040" y="4297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vom Umsatz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40080" y="4663440"/>
            <a:ext cx="10881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5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68680" y="4800600"/>
            <a:ext cx="640080" cy="640080"/>
          </a:xfrm>
          <a:prstGeom prst="ellipse">
            <a:avLst/>
          </a:prstGeom>
          <a:solidFill>
            <a:srgbClr val="C9A24B">
              <a:alpha val="20000"/>
            </a:srgbClr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89204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69164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Premium-Abo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1691640" y="51389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Direktzahlung · Familie · Priorität · persönl. Manager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686800" y="4773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29–49 €/Mo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8686800" y="5212080"/>
            <a:ext cx="2651760" cy="164592"/>
          </a:xfrm>
          <a:prstGeom prst="rect">
            <a:avLst/>
          </a:prstGeom>
          <a:solidFill>
            <a:srgbClr val="EAE3D4"/>
          </a:solidFill>
          <a:ln/>
        </p:spPr>
      </p:sp>
      <p:sp>
        <p:nvSpPr>
          <p:cNvPr id="38" name="Shape 32"/>
          <p:cNvSpPr/>
          <p:nvPr/>
        </p:nvSpPr>
        <p:spPr>
          <a:xfrm>
            <a:off x="8686800" y="5212080"/>
            <a:ext cx="265176" cy="16459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9" name="Text 33"/>
          <p:cNvSpPr/>
          <p:nvPr/>
        </p:nvSpPr>
        <p:spPr>
          <a:xfrm>
            <a:off x="10607040" y="5166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vom Umsatz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41" name="Text 35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0C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ARPU (Kunde): 340 €/Monat | Ø Kundenlebensdauer: 28 Monate | LTV: ~9.500 €</a:t>
            </a:r>
            <a:endParaRPr lang="en-US" sz="1300" dirty="0"/>
          </a:p>
        </p:txBody>
      </p:sp>
      <p:pic>
        <p:nvPicPr>
          <p:cNvPr id="42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4" name="Text 37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Launch-ready. Erster Kunde an Bord.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1554480" y="2560320"/>
            <a:ext cx="36576" cy="3383280"/>
          </a:xfrm>
          <a:prstGeom prst="rect">
            <a:avLst/>
          </a:prstGeom>
          <a:solidFill>
            <a:srgbClr val="C9A24B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17320" y="2423160"/>
            <a:ext cx="310896" cy="310896"/>
          </a:xfrm>
          <a:prstGeom prst="ellipse">
            <a:avLst/>
          </a:prstGeom>
          <a:solidFill>
            <a:srgbClr val="C9A24B"/>
          </a:solidFill>
          <a:ln w="25400">
            <a:solidFill>
              <a:srgbClr val="C9A24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48716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377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87452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Idee &amp; UG-Gründung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6700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Marktrecherche, UG (haftungsbeschränkt) eingetragen — HRB 140351, erste Prototypen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417320" y="3200400"/>
            <a:ext cx="310896" cy="310896"/>
          </a:xfrm>
          <a:prstGeom prst="ellipse">
            <a:avLst/>
          </a:prstGeom>
          <a:solidFill>
            <a:srgbClr val="C9A24B"/>
          </a:solidFill>
          <a:ln w="25400">
            <a:solidFill>
              <a:srgbClr val="C9A24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328" y="326440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31546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87452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Build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874520" y="3447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Native App, Web-Plattform, Supabase-Backend, RLS-Security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417320" y="3977640"/>
            <a:ext cx="310896" cy="310896"/>
          </a:xfrm>
          <a:prstGeom prst="ellipse">
            <a:avLst/>
          </a:prstGeom>
          <a:solidFill>
            <a:srgbClr val="C9A24B"/>
          </a:solidFill>
          <a:ln w="25400">
            <a:solidFill>
              <a:srgbClr val="C9A24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404164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" y="3931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87452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Launch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874520" y="42245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im App Store &amp; Play Store, Marketing-Launch, erste Kundin (Sabrina) an Bord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417320" y="4754880"/>
            <a:ext cx="310896" cy="310896"/>
          </a:xfrm>
          <a:prstGeom prst="ellipse">
            <a:avLst/>
          </a:prstGeom>
          <a:solidFill>
            <a:srgbClr val="F5EFE6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709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87452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Frankfurt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874520" y="50017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aktive Kunden · 20 verifizierte Engel · Erste Krankenfahrten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1417320" y="5532120"/>
            <a:ext cx="310896" cy="310896"/>
          </a:xfrm>
          <a:prstGeom prst="ellipse">
            <a:avLst/>
          </a:prstGeom>
          <a:solidFill>
            <a:srgbClr val="F5EFE6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65760" y="5486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874520" y="5440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7F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NRW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1874520" y="57790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Köln · Düsseldorf · Partnerschaft mit ProCare &amp; PROLIFE</a:t>
            </a:r>
            <a:endParaRPr lang="en-US" sz="1100" dirty="0"/>
          </a:p>
        </p:txBody>
      </p:sp>
      <p:pic>
        <p:nvPicPr>
          <p:cNvPr id="28" name="Image 3" descr="logo-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0" name="Text 24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Dominanz-Strategie: Stadt für Stadt.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943600" cy="1280160"/>
          </a:xfrm>
          <a:prstGeom prst="rect">
            <a:avLst/>
          </a:prstGeom>
          <a:solidFill>
            <a:srgbClr val="1A1612"/>
          </a:solidFill>
          <a:ln w="25400">
            <a:solidFill>
              <a:srgbClr val="C9A24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31520" cy="7315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82880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Frankfurt am Main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C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Start-Stadt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500 Kunden · 80 Engel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943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794760"/>
            <a:ext cx="731520" cy="7315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8288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Köln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4206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2027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4453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800 Kunden · 120 Engel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37760"/>
            <a:ext cx="5943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212080"/>
            <a:ext cx="731520" cy="7315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828800" y="5166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Düsseldorf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2880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5870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600 Kunden · 90 Engel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2103120"/>
            <a:ext cx="4663440" cy="411480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103120"/>
            <a:ext cx="82296" cy="41148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GTM-PLAYBOOK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Stadt in 90 Tagen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863840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Engel rekrutieren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63840" y="35387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Facebook-Gruppen · Minijob-Börsen · AWO/Caritas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3931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863840" y="39136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Sanitätshaus-Allianzen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863840" y="4224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Ko-Marketing · Flyer · QR-Codes im Laden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863840" y="45994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Kassen-Abrechnung aktiv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0" y="49103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Abrechnungsstelle freigeschaltet · §45b live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5303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863840" y="5285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863840" y="5596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· Google · TV-regional (Senioren-Prime)</a:t>
            </a:r>
            <a:endParaRPr lang="en-US" sz="1000" dirty="0"/>
          </a:p>
        </p:txBody>
      </p:sp>
      <p:pic>
        <p:nvPicPr>
          <p:cNvPr id="38" name="Image 0" descr="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39" name="Shape 36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0" name="Text 37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 &amp; WETTBEWERB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 besetzen die Lücke zwischen Helpling und Pflegedienst.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94360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2377440"/>
            <a:ext cx="0" cy="3474720"/>
          </a:xfrm>
          <a:prstGeom prst="line">
            <a:avLst/>
          </a:prstGeom>
          <a:noFill/>
          <a:ln w="12700">
            <a:solidFill>
              <a:srgbClr val="8A7F6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22960" y="4114800"/>
            <a:ext cx="5577840" cy="0"/>
          </a:xfrm>
          <a:prstGeom prst="line">
            <a:avLst/>
          </a:prstGeom>
          <a:noFill/>
          <a:ln w="12700">
            <a:solidFill>
              <a:srgbClr val="8A7F6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40080" y="5760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Pflege-Fokus →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99032" y="2810866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DDDDDD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281086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0832" y="4961534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DDDDDD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0832" y="496153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HomeInstead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27448" y="5230368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DDDDDD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5230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Pflegedienst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74520" y="3310128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DDDDDD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74520" y="33101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Curendo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70832" y="29260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C9A24B"/>
          </a:solidFill>
          <a:ln w="19050">
            <a:solidFill>
              <a:srgbClr val="1A161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70832" y="2926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uns unterscheidet</a:t>
            </a:r>
            <a:endParaRPr lang="en-US" sz="2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2880360"/>
            <a:ext cx="292608" cy="29260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543800" y="2788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Kassen-Integriert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543800" y="3090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Direktabrechnung mit §45b, §40 und Krankenkassen — keine Vorkasse für den Kunden.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3730752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43800" y="363931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Vollstack statt Punkt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543800" y="3941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Hilfe + Fahrt + Box in einer App. Konkurrenz bietet nur eine Vertikale.</a:t>
            </a:r>
            <a:endParaRPr lang="en-US" sz="10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4581144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543800" y="448970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(native)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7543800" y="47914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+ Web — Live-Server-Updates ohne Store-Release.</a:t>
            </a:r>
            <a:endParaRPr lang="en-US" sz="10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5431536"/>
            <a:ext cx="292608" cy="29260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543800" y="53400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Care-Manager pro Kunde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7543800" y="56418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Menschliche Ansprechperson, WhatsApp-Kontakt, kein Chatbot-Labyrinth.</a:t>
            </a:r>
            <a:endParaRPr lang="en-US" sz="1050" dirty="0"/>
          </a:p>
        </p:txBody>
      </p:sp>
      <p:pic>
        <p:nvPicPr>
          <p:cNvPr id="32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4" name="Text 27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Solo-Founder. Hands-on. Shipping seit Tag 1.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754880" cy="4114800"/>
          </a:xfrm>
          <a:prstGeom prst="rect">
            <a:avLst/>
          </a:prstGeom>
          <a:solidFill>
            <a:srgbClr val="1A1612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2514600"/>
            <a:ext cx="1463040" cy="1463040"/>
          </a:xfrm>
          <a:prstGeom prst="ellipse">
            <a:avLst/>
          </a:prstGeom>
          <a:solidFill>
            <a:srgbClr val="C9A24B">
              <a:alpha val="20000"/>
            </a:srgbClr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60604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YFD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Yusuf Ferhat Demir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GRÜNDER · CEO · CTO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60120" y="498348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Frankfurt-basiert, türkisch-deutsche Wurzeln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Product-Led: Idee zu Live-App in 4 Monaten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iOS, Android, Next.js, Supabase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●"/>
            </a:pPr>
            <a:r>
              <a:rPr lang="en-US" sz="10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Community-First: WhatsApp, direkter Kontakt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0" y="2148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Schlüssel-Hires (mit dem Pre-Seed)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852160" y="2651760"/>
            <a:ext cx="5669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0" y="2651760"/>
            <a:ext cx="64008" cy="77724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2834640"/>
            <a:ext cx="411480" cy="4114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76656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766560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Stadt-Launches, Engel-Rekrutierung, Qualität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852160" y="3520440"/>
            <a:ext cx="5669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3520440"/>
            <a:ext cx="64008" cy="77724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703320"/>
            <a:ext cx="411480" cy="411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766560" y="3593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Care-Manager (x2)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76656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Persönlicher Kunden-Kontakt, Retention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852160" y="4389120"/>
            <a:ext cx="5669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852160" y="4389120"/>
            <a:ext cx="64008" cy="77724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57200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66560" y="4462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Marketer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766560" y="4773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Social, SEO, Senioren-Zielgruppe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852160" y="5257800"/>
            <a:ext cx="5669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852160" y="5257800"/>
            <a:ext cx="64008" cy="77724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44068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766560" y="5330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Partner-Manager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6766560" y="5641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Kassen, Sanitätshäuser, ProCare/PROLIFE</a:t>
            </a:r>
            <a:endParaRPr lang="en-US" sz="1050" dirty="0"/>
          </a:p>
        </p:txBody>
      </p:sp>
      <p:pic>
        <p:nvPicPr>
          <p:cNvPr id="31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3" name="Text 26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3-Jahres-Plan: Vom Launch zur NRW-Dominanz.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210312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06640" y="2103120"/>
            <a:ext cx="54864" cy="6858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2148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2.650 T€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589520" y="2514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Umsatz 2028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06640" y="288036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06640" y="2880360"/>
            <a:ext cx="54864" cy="6858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926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Städte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589520" y="3291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NRW abgedeckt bis Q4/2027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406640" y="365760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06640" y="3657600"/>
            <a:ext cx="54864" cy="6858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2"/>
          <p:cNvSpPr/>
          <p:nvPr/>
        </p:nvSpPr>
        <p:spPr>
          <a:xfrm>
            <a:off x="7589520" y="3703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1.900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589520" y="4069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Aktive Kunden Ø 2028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06640" y="443484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06640" y="4434840"/>
            <a:ext cx="54864" cy="6858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6"/>
          <p:cNvSpPr/>
          <p:nvPr/>
        </p:nvSpPr>
        <p:spPr>
          <a:xfrm>
            <a:off x="7589520" y="4480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340 €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589520" y="4846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pro Monat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06640" y="5212080"/>
            <a:ext cx="41148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5212080"/>
            <a:ext cx="54864" cy="6858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3" name="Text 20"/>
          <p:cNvSpPr/>
          <p:nvPr/>
        </p:nvSpPr>
        <p:spPr>
          <a:xfrm>
            <a:off x="7589520" y="5257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2028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589520" y="5623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Break-Even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Basisszenario · Konservativ · Detaillierter Financial-Model (Excel) separat im Due-Diligence-Paket.</a:t>
            </a:r>
            <a:endParaRPr lang="en-US" sz="900" dirty="0"/>
          </a:p>
        </p:txBody>
      </p:sp>
      <p:pic>
        <p:nvPicPr>
          <p:cNvPr id="26" name="Image 0" descr="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8" name="Text 24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 Mio €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E0C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· Wandeldarlehen oder Equity · 18–24 Monate Runway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11880"/>
            <a:ext cx="2651760" cy="2103120"/>
          </a:xfrm>
          <a:prstGeom prst="rect">
            <a:avLst/>
          </a:prstGeom>
          <a:solidFill>
            <a:srgbClr val="2A241D"/>
          </a:solidFill>
          <a:ln w="9525">
            <a:solidFill>
              <a:srgbClr val="C9A24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38862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5093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Team-Aufbau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Care, Growth, Partner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84448" y="3611880"/>
            <a:ext cx="2651760" cy="2103120"/>
          </a:xfrm>
          <a:prstGeom prst="rect">
            <a:avLst/>
          </a:prstGeom>
          <a:solidFill>
            <a:srgbClr val="2A241D"/>
          </a:solidFill>
          <a:ln w="9525">
            <a:solidFill>
              <a:srgbClr val="C9A24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388620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30 %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3721608" y="5093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CAC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721608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Social, TV-regional, SEO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37376" y="3611880"/>
            <a:ext cx="2651760" cy="2103120"/>
          </a:xfrm>
          <a:prstGeom prst="rect">
            <a:avLst/>
          </a:prstGeom>
          <a:solidFill>
            <a:srgbClr val="2A241D"/>
          </a:solidFill>
          <a:ln w="9525">
            <a:solidFill>
              <a:srgbClr val="C9A24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38862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37376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20 %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6574536" y="5093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NRW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574536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Köln + Düsseldorf Launches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290304" y="3611880"/>
            <a:ext cx="2651760" cy="2103120"/>
          </a:xfrm>
          <a:prstGeom prst="rect">
            <a:avLst/>
          </a:prstGeom>
          <a:solidFill>
            <a:srgbClr val="2A241D"/>
          </a:solidFill>
          <a:ln w="9525">
            <a:solidFill>
              <a:srgbClr val="C9A24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1864" y="388620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0304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10 %</a:t>
            </a:r>
            <a:endParaRPr lang="en-US" sz="3400" dirty="0"/>
          </a:p>
        </p:txBody>
      </p:sp>
      <p:sp>
        <p:nvSpPr>
          <p:cNvPr id="24" name="Text 18"/>
          <p:cNvSpPr/>
          <p:nvPr/>
        </p:nvSpPr>
        <p:spPr>
          <a:xfrm>
            <a:off x="9427464" y="5093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 &amp; Ops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427464" y="5376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Abrechnungs-Engine, KI-Matching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0C6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Seed: 1.900 Kunden · 2,6 Mio € Umsatz · Break-Even Q2/2028 · Series-A ready</a:t>
            </a:r>
            <a:endParaRPr lang="en-US" sz="1200" dirty="0"/>
          </a:p>
        </p:txBody>
      </p:sp>
      <p:pic>
        <p:nvPicPr>
          <p:cNvPr id="27" name="Image 4" descr="logo-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9" name="Text 22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ProCare + AlltagsEngel perfekt passen.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5029200" cy="548640"/>
          </a:xfrm>
          <a:prstGeom prst="rect">
            <a:avLst/>
          </a:prstGeom>
          <a:solidFill>
            <a:srgbClr val="1A161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ProCare · PROLIFE · care integral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Mitarbeiter, Hessen/Schleswig-Holstein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Pflegehilfsmittel-Logistik, forma-care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Verträge mit allen Krankenkassen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5196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Stoma, Wunde, Inkontinenz, Ernährung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66344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Apotheken- &amp; Sanitätshaus-Netzwerk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6492240" y="2148840"/>
            <a:ext cx="5029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4B"/>
            </a:solidFill>
            <a:prstDash val="solid"/>
          </a:ln>
        </p:spPr>
      </p:sp>
      <p:sp>
        <p:nvSpPr>
          <p:cNvPr id="18" name="Shape 11"/>
          <p:cNvSpPr/>
          <p:nvPr/>
        </p:nvSpPr>
        <p:spPr>
          <a:xfrm>
            <a:off x="6492240" y="2148840"/>
            <a:ext cx="5029200" cy="5486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2"/>
          <p:cNvSpPr/>
          <p:nvPr/>
        </p:nvSpPr>
        <p:spPr>
          <a:xfrm>
            <a:off x="649224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AlltagsEngel</a:t>
            </a:r>
            <a:endParaRPr lang="en-US" sz="17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01752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13232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Plattform · iOS + Android + Web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429000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13232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§45b-Direktkontakt zum Endkunden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840480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132320" y="3794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Alltagshilfen, Krankenfahrten, Abo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4251960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7132320" y="4206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Care-Manager-Beziehung pro Haushalt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0" y="4663440"/>
            <a:ext cx="228600" cy="2286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713232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Performance-Marketing &amp; Daten-First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5486400" y="3383280"/>
            <a:ext cx="548640" cy="548640"/>
          </a:xfrm>
          <a:prstGeom prst="ellipse">
            <a:avLst/>
          </a:prstGeom>
          <a:solidFill>
            <a:srgbClr val="1A1612"/>
          </a:solidFill>
          <a:ln w="25400">
            <a:solidFill>
              <a:srgbClr val="C9A24B"/>
            </a:solidFill>
            <a:prstDash val="solid"/>
          </a:ln>
        </p:spPr>
      </p:sp>
      <p:sp>
        <p:nvSpPr>
          <p:cNvPr id="31" name="Text 19"/>
          <p:cNvSpPr/>
          <p:nvPr/>
        </p:nvSpPr>
        <p:spPr>
          <a:xfrm>
            <a:off x="5486400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2800" dirty="0"/>
          </a:p>
        </p:txBody>
      </p:sp>
      <p:sp>
        <p:nvSpPr>
          <p:cNvPr id="32" name="Shape 20"/>
          <p:cNvSpPr/>
          <p:nvPr/>
        </p:nvSpPr>
        <p:spPr>
          <a:xfrm>
            <a:off x="640080" y="5486400"/>
            <a:ext cx="3520440" cy="868680"/>
          </a:xfrm>
          <a:prstGeom prst="rect">
            <a:avLst/>
          </a:prstGeom>
          <a:solidFill>
            <a:srgbClr val="C9A24B">
              <a:alpha val="15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777240" y="5559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Pflegebox-Direktversand</a:t>
            </a:r>
            <a:endParaRPr lang="en-US" sz="1100" dirty="0"/>
          </a:p>
        </p:txBody>
      </p:sp>
      <p:sp>
        <p:nvSpPr>
          <p:cNvPr id="34" name="Text 22"/>
          <p:cNvSpPr/>
          <p:nvPr/>
        </p:nvSpPr>
        <p:spPr>
          <a:xfrm>
            <a:off x="777240" y="58338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ProCare-Produkte im AlltagsEngel-Abo — 42 €/Mo pro Kunde, 1.900 Kunden = 957 T€/Jahr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4343400" y="5486400"/>
            <a:ext cx="3520440" cy="868680"/>
          </a:xfrm>
          <a:prstGeom prst="rect">
            <a:avLst/>
          </a:prstGeom>
          <a:solidFill>
            <a:srgbClr val="C9A24B">
              <a:alpha val="15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4480560" y="5559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Kassen-Abrechnungs-Rails</a:t>
            </a:r>
            <a:endParaRPr lang="en-US" sz="1100" dirty="0"/>
          </a:p>
        </p:txBody>
      </p:sp>
      <p:sp>
        <p:nvSpPr>
          <p:cNvPr id="37" name="Text 25"/>
          <p:cNvSpPr/>
          <p:nvPr/>
        </p:nvSpPr>
        <p:spPr>
          <a:xfrm>
            <a:off x="4480560" y="58338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PROLIFE's existierende Kassen-Verträge beschleunigen §45b-Rollout um 12–18 Monate</a:t>
            </a:r>
            <a:endParaRPr lang="en-US" sz="950" dirty="0"/>
          </a:p>
        </p:txBody>
      </p:sp>
      <p:sp>
        <p:nvSpPr>
          <p:cNvPr id="38" name="Shape 26"/>
          <p:cNvSpPr/>
          <p:nvPr/>
        </p:nvSpPr>
        <p:spPr>
          <a:xfrm>
            <a:off x="8046720" y="5486400"/>
            <a:ext cx="3520440" cy="868680"/>
          </a:xfrm>
          <a:prstGeom prst="rect">
            <a:avLst/>
          </a:prstGeom>
          <a:solidFill>
            <a:srgbClr val="C9A24B">
              <a:alpha val="15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39" name="Text 27"/>
          <p:cNvSpPr/>
          <p:nvPr/>
        </p:nvSpPr>
        <p:spPr>
          <a:xfrm>
            <a:off x="8183880" y="55595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Homecare-Cross-Sell</a:t>
            </a:r>
            <a:endParaRPr lang="en-US" sz="1100" dirty="0"/>
          </a:p>
        </p:txBody>
      </p:sp>
      <p:sp>
        <p:nvSpPr>
          <p:cNvPr id="40" name="Text 28"/>
          <p:cNvSpPr/>
          <p:nvPr/>
        </p:nvSpPr>
        <p:spPr>
          <a:xfrm>
            <a:off x="8183880" y="583387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4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Stoma/Wundversorgung in AlltagsEngel-App vermittelbar — pflegende Angehörige als Eingangstor</a:t>
            </a:r>
            <a:endParaRPr lang="en-US" sz="950" dirty="0"/>
          </a:p>
        </p:txBody>
      </p:sp>
      <p:pic>
        <p:nvPicPr>
          <p:cNvPr id="41" name="Image 10" descr="logo-mar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02975" y="274320"/>
            <a:ext cx="777240" cy="429768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457200" y="6492240"/>
            <a:ext cx="54864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3" name="Text 30"/>
          <p:cNvSpPr/>
          <p:nvPr/>
        </p:nvSpPr>
        <p:spPr>
          <a:xfrm>
            <a:off x="11430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</a:t>
            </a:r>
            <a:endParaRPr lang="en-US" sz="900" dirty="0"/>
          </a:p>
        </p:txBody>
      </p:sp>
      <p:sp>
        <p:nvSpPr>
          <p:cNvPr id="44" name="Text 31"/>
          <p:cNvSpPr/>
          <p:nvPr/>
        </p:nvSpPr>
        <p:spPr>
          <a:xfrm>
            <a:off x="11002975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C9A24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C9A24B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5" name="Image 0" descr="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5775" y="457200"/>
            <a:ext cx="91440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9144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DANKE.</a:t>
            </a:r>
            <a:endParaRPr lang="en-US" sz="80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C68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 uns Alltagshilfe und Entlastung neu bauen.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731520" y="3063240"/>
            <a:ext cx="457200" cy="27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8503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Ferhat Demir — Gründer &amp; CEO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96512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+49 178 338 2825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0799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info@alltagsengel.care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91947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 UG (haftungsbeschränkt) · HRB 140351 · Frankfurt am Main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330952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5303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alltagsengel.care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73152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7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Vertraulich · Für ProCare Deutschland &amp; PROLIFE homecare GmbH ·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AlltagsEngel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AlltagsEngel — Investor Pitch Deck</dc:title>
  <dc:subject>PptxGenJS Presentation</dc:subject>
  <dc:creator>AlltagsEngel UG</dc:creator>
  <cp:lastModifiedBy>AlltagsEngel UG</cp:lastModifiedBy>
  <cp:revision>1</cp:revision>
  <dcterms:created xsi:type="dcterms:W3CDTF">2026-04-20T23:58:06Z</dcterms:created>
  <dcterms:modified xsi:type="dcterms:W3CDTF">2026-04-20T23:58:06Z</dcterms:modified>
</cp:coreProperties>
</file>