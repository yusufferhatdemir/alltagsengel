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800" kern="0" dirty="0">
                <a:solidFill>
                  <a:srgbClr val="C99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ALLTAGSENGEL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18745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i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Digitale Plattform für Alltagsbegleitung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606040"/>
            <a:ext cx="2286000" cy="36576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Pitch Deck — Juni 2026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3832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Alltagsbegleitung · Pflegebox · Krankenfahrten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4754880"/>
            <a:ext cx="36576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www.alltagsengel.com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99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657600" cy="1645920"/>
          </a:xfrm>
          <a:prstGeom prst="rect">
            <a:avLst/>
          </a:prstGeom>
          <a:solidFill>
            <a:srgbClr val="1E1A16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2344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C99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~50%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731520" y="20574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Pflegebedürftigen nutzen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ihren Entlastungsbetrag nicht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3657600" cy="1645920"/>
          </a:xfrm>
          <a:prstGeom prst="rect">
            <a:avLst/>
          </a:prstGeom>
          <a:solidFill>
            <a:srgbClr val="1E1A16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0" y="12344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C99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125€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4754880" y="20574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Entlastungsbetrag pro Monat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verfallen bei Nichtnutzung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108960"/>
            <a:ext cx="2560320" cy="1463040"/>
          </a:xfrm>
          <a:prstGeom prst="rect">
            <a:avLst/>
          </a:prstGeom>
          <a:solidFill>
            <a:srgbClr val="1E1A16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645920" y="3200400"/>
            <a:ext cx="457200" cy="457200"/>
          </a:xfrm>
          <a:prstGeom prst="ellipse">
            <a:avLst/>
          </a:prstGeom>
          <a:solidFill>
            <a:srgbClr val="C9963C"/>
          </a:solidFill>
          <a:ln/>
        </p:spPr>
      </p:sp>
      <p:sp>
        <p:nvSpPr>
          <p:cNvPr id="11" name="Text 9"/>
          <p:cNvSpPr/>
          <p:nvPr/>
        </p:nvSpPr>
        <p:spPr>
          <a:xfrm>
            <a:off x="164592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37033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Analoge Prozesse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4023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Telefon, Papier, Fax — kein digitaler Zugang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538728" y="3108960"/>
            <a:ext cx="2560320" cy="1463040"/>
          </a:xfrm>
          <a:prstGeom prst="rect">
            <a:avLst/>
          </a:prstGeom>
          <a:solidFill>
            <a:srgbClr val="1E1A16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453128" y="3200400"/>
            <a:ext cx="457200" cy="457200"/>
          </a:xfrm>
          <a:prstGeom prst="ellipse">
            <a:avLst/>
          </a:prstGeom>
          <a:solidFill>
            <a:srgbClr val="4A7A8B"/>
          </a:solidFill>
          <a:ln/>
        </p:spPr>
      </p:sp>
      <p:sp>
        <p:nvSpPr>
          <p:cNvPr id="16" name="Text 14"/>
          <p:cNvSpPr/>
          <p:nvPr/>
        </p:nvSpPr>
        <p:spPr>
          <a:xfrm>
            <a:off x="4453128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721608" y="37033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Komplexe Bürokratie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721608" y="4023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Pflegekassen-Abrechnung schreckt ab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45936" y="3108960"/>
            <a:ext cx="2560320" cy="1463040"/>
          </a:xfrm>
          <a:prstGeom prst="rect">
            <a:avLst/>
          </a:prstGeom>
          <a:solidFill>
            <a:srgbClr val="1E1A16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260336" y="3200400"/>
            <a:ext cx="457200" cy="457200"/>
          </a:xfrm>
          <a:prstGeom prst="ellipse">
            <a:avLst/>
          </a:prstGeom>
          <a:solidFill>
            <a:srgbClr val="A05A5A"/>
          </a:solidFill>
          <a:ln/>
        </p:spPr>
      </p:sp>
      <p:sp>
        <p:nvSpPr>
          <p:cNvPr id="21" name="Text 19"/>
          <p:cNvSpPr/>
          <p:nvPr/>
        </p:nvSpPr>
        <p:spPr>
          <a:xfrm>
            <a:off x="7260336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528816" y="37033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Fehlende Transparenz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28816" y="4023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Vergleich, keine Bewertungen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99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DIE LÖSUNG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Alltagsengel digitalisiert die Alltagsbegleitung — einfach, transparent und direkt über die Pflegekasse abgerechnet.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73152" cy="685800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691640"/>
            <a:ext cx="7607808" cy="685800"/>
          </a:xfrm>
          <a:prstGeom prst="rect">
            <a:avLst/>
          </a:prstGeom>
          <a:solidFill>
            <a:srgbClr val="1E1A16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51560" y="17373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Online-Buchung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201168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Einfache digitale Buchung von Alltagsbegleitern — kein Telefon, kein Papierkram.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514600"/>
            <a:ext cx="73152" cy="685800"/>
          </a:xfrm>
          <a:prstGeom prst="rect">
            <a:avLst/>
          </a:prstGeom>
          <a:solidFill>
            <a:srgbClr val="5B8A72"/>
          </a:solidFill>
          <a:ln/>
        </p:spPr>
      </p:sp>
      <p:sp>
        <p:nvSpPr>
          <p:cNvPr id="9" name="Shape 7"/>
          <p:cNvSpPr/>
          <p:nvPr/>
        </p:nvSpPr>
        <p:spPr>
          <a:xfrm>
            <a:off x="804672" y="2514600"/>
            <a:ext cx="7607808" cy="685800"/>
          </a:xfrm>
          <a:prstGeom prst="rect">
            <a:avLst/>
          </a:prstGeom>
          <a:solidFill>
            <a:srgbClr val="1E1A16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51560" y="25603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Intelligentes Matching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51560" y="283464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Algorithmus verbindet Senioren mit passenden Engeln nach Bedarf, Nähe und Verfügbarkeit.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337560"/>
            <a:ext cx="73152" cy="685800"/>
          </a:xfrm>
          <a:prstGeom prst="rect">
            <a:avLst/>
          </a:prstGeom>
          <a:solidFill>
            <a:srgbClr val="4A7A8B"/>
          </a:solidFill>
          <a:ln/>
        </p:spPr>
      </p:sp>
      <p:sp>
        <p:nvSpPr>
          <p:cNvPr id="13" name="Shape 11"/>
          <p:cNvSpPr/>
          <p:nvPr/>
        </p:nvSpPr>
        <p:spPr>
          <a:xfrm>
            <a:off x="804672" y="3337560"/>
            <a:ext cx="7607808" cy="685800"/>
          </a:xfrm>
          <a:prstGeom prst="rect">
            <a:avLst/>
          </a:prstGeom>
          <a:solidFill>
            <a:srgbClr val="1E1A16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51560" y="33832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Pflegekassen-Abrechnung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51560" y="365760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Automatische Abrechnung über §45b SGB XI — kein Aufwand für Familien.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4160520"/>
            <a:ext cx="73152" cy="685800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17" name="Shape 15"/>
          <p:cNvSpPr/>
          <p:nvPr/>
        </p:nvSpPr>
        <p:spPr>
          <a:xfrm>
            <a:off x="804672" y="4160520"/>
            <a:ext cx="7607808" cy="685800"/>
          </a:xfrm>
          <a:prstGeom prst="rect">
            <a:avLst/>
          </a:prstGeom>
          <a:solidFill>
            <a:srgbClr val="1E1A16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051560" y="42062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Qualitätssicherung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51560" y="448056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Bewertungen, verifizierte Profile und transparente Preise schaffen Vertrauen.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99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MARKTGRÖSSE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2560320" cy="2011680"/>
          </a:xfrm>
          <a:prstGeom prst="rect">
            <a:avLst/>
          </a:prstGeom>
          <a:solidFill>
            <a:srgbClr val="1E1A16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463040" y="1280160"/>
            <a:ext cx="1097280" cy="320040"/>
          </a:xfrm>
          <a:prstGeom prst="rect">
            <a:avLst/>
          </a:prstGeom>
          <a:solidFill>
            <a:srgbClr val="4A7A8B"/>
          </a:solidFill>
          <a:ln/>
        </p:spPr>
      </p:sp>
      <p:sp>
        <p:nvSpPr>
          <p:cNvPr id="5" name="Text 3"/>
          <p:cNvSpPr/>
          <p:nvPr/>
        </p:nvSpPr>
        <p:spPr>
          <a:xfrm>
            <a:off x="1463040" y="12801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60+ Mrd€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14400" y="24688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Gesamter Pflegemarkt Deutschland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538728" y="1188720"/>
            <a:ext cx="2560320" cy="2011680"/>
          </a:xfrm>
          <a:prstGeom prst="rect">
            <a:avLst/>
          </a:prstGeom>
          <a:solidFill>
            <a:srgbClr val="1E1A16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70248" y="1280160"/>
            <a:ext cx="1097280" cy="320040"/>
          </a:xfrm>
          <a:prstGeom prst="rect">
            <a:avLst/>
          </a:prstGeom>
          <a:solidFill>
            <a:srgbClr val="5B8A72"/>
          </a:solidFill>
          <a:ln/>
        </p:spPr>
      </p:sp>
      <p:sp>
        <p:nvSpPr>
          <p:cNvPr id="10" name="Text 8"/>
          <p:cNvSpPr/>
          <p:nvPr/>
        </p:nvSpPr>
        <p:spPr>
          <a:xfrm>
            <a:off x="4270248" y="12801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38728" y="17373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8,9 Mrd€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721608" y="24688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Ambulante &amp; häusliche Betreuung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36792" y="1188720"/>
            <a:ext cx="2560320" cy="2011680"/>
          </a:xfrm>
          <a:prstGeom prst="rect">
            <a:avLst/>
          </a:prstGeom>
          <a:solidFill>
            <a:srgbClr val="1E1A16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068312" y="1280160"/>
            <a:ext cx="1097280" cy="320040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15" name="Text 13"/>
          <p:cNvSpPr/>
          <p:nvPr/>
        </p:nvSpPr>
        <p:spPr>
          <a:xfrm>
            <a:off x="7068312" y="12801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36792" y="17373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 Mio€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519672" y="24688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Rhein-Main (Startmarkt)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3474720"/>
            <a:ext cx="8165592" cy="1280160"/>
          </a:xfrm>
          <a:prstGeom prst="rect">
            <a:avLst/>
          </a:prstGeom>
          <a:solidFill>
            <a:srgbClr val="1E1A16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14400" y="35661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9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5,69 Mio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14400" y="4114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Pflegebedürftige (2023)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926080" y="35661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9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86%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2926080" y="4114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 Hause versorgt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0" y="35661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9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6,3 Mio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4937760" y="4114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Prognose 2035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949440" y="35661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9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17.938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949440" y="4114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Ambulante Dienste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99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GESCHÄFTSMODELL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Drei Erlösströme — alle über bestehende Sozialversicherungsansprüche finanziert.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7680960" cy="960120"/>
          </a:xfrm>
          <a:prstGeom prst="rect">
            <a:avLst/>
          </a:prstGeom>
          <a:solidFill>
            <a:srgbClr val="1E1A16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54480"/>
            <a:ext cx="73152" cy="960120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6459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9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645920" y="16459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Vermittlungsprovision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45920" y="19659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§45b SGB XI — Entlastungsbetrag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645920" y="21945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15–20% Provision auf jede Buchung eines Alltagsbegleiters. Abrechnung direkt mit der Pflegekasse.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949440" y="1783080"/>
            <a:ext cx="1280160" cy="502920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11" name="Text 9"/>
          <p:cNvSpPr/>
          <p:nvPr/>
        </p:nvSpPr>
        <p:spPr>
          <a:xfrm>
            <a:off x="6949440" y="17830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125€/Monat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2651760"/>
            <a:ext cx="7680960" cy="960120"/>
          </a:xfrm>
          <a:prstGeom prst="rect">
            <a:avLst/>
          </a:prstGeom>
          <a:solidFill>
            <a:srgbClr val="1E1A16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2651760"/>
            <a:ext cx="73152" cy="960120"/>
          </a:xfrm>
          <a:prstGeom prst="rect">
            <a:avLst/>
          </a:prstGeom>
          <a:solidFill>
            <a:srgbClr val="5B8A72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27432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8A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645920" y="27432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Pflegebox-Abo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645920" y="30632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§40 SGB XI — Pflegehilfsmittel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645920" y="32918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Monatliche Lieferung von Pflegehilfsmitteln. Pauschale wird direkt von der Kasse übernommen.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949440" y="2880360"/>
            <a:ext cx="1280160" cy="502920"/>
          </a:xfrm>
          <a:prstGeom prst="rect">
            <a:avLst/>
          </a:prstGeom>
          <a:solidFill>
            <a:srgbClr val="5B8A72"/>
          </a:solidFill>
          <a:ln/>
        </p:spPr>
      </p:sp>
      <p:sp>
        <p:nvSpPr>
          <p:cNvPr id="19" name="Text 17"/>
          <p:cNvSpPr/>
          <p:nvPr/>
        </p:nvSpPr>
        <p:spPr>
          <a:xfrm>
            <a:off x="6949440" y="28803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42€/Monat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31520" y="3749040"/>
            <a:ext cx="7680960" cy="960120"/>
          </a:xfrm>
          <a:prstGeom prst="rect">
            <a:avLst/>
          </a:prstGeom>
          <a:solidFill>
            <a:srgbClr val="1E1A16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3749040"/>
            <a:ext cx="73152" cy="960120"/>
          </a:xfrm>
          <a:prstGeom prst="rect">
            <a:avLst/>
          </a:prstGeom>
          <a:solidFill>
            <a:srgbClr val="4A7A8B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38404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A7A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1645920" y="38404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Krankenfahrten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45920" y="41605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§60 SGB V — Fahrkosten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645920" y="43891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10–15% Provision auf vermittelte Krankenfahrten zu Arztterminen und Therapie.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949440" y="3977640"/>
            <a:ext cx="1280160" cy="502920"/>
          </a:xfrm>
          <a:prstGeom prst="rect">
            <a:avLst/>
          </a:prstGeom>
          <a:solidFill>
            <a:srgbClr val="4A7A8B"/>
          </a:solidFill>
          <a:ln/>
        </p:spPr>
      </p:sp>
      <p:sp>
        <p:nvSpPr>
          <p:cNvPr id="27" name="Text 25"/>
          <p:cNvSpPr/>
          <p:nvPr/>
        </p:nvSpPr>
        <p:spPr>
          <a:xfrm>
            <a:off x="6949440" y="39776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10–15% Prov.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99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 FUNKTIONIERT 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Drei einfache Schritte — kein Papierkram, keine Vorkasse.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2560320" cy="2926080"/>
          </a:xfrm>
          <a:prstGeom prst="rect">
            <a:avLst/>
          </a:prstGeom>
          <a:solidFill>
            <a:srgbClr val="1E1A16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54480" y="1783080"/>
            <a:ext cx="914400" cy="914400"/>
          </a:xfrm>
          <a:prstGeom prst="ellipse">
            <a:avLst/>
          </a:prstGeom>
          <a:solidFill>
            <a:srgbClr val="C9963C"/>
          </a:solidFill>
          <a:ln/>
        </p:spPr>
      </p:sp>
      <p:sp>
        <p:nvSpPr>
          <p:cNvPr id="6" name="Text 4"/>
          <p:cNvSpPr/>
          <p:nvPr/>
        </p:nvSpPr>
        <p:spPr>
          <a:xfrm>
            <a:off x="1554480" y="17830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28346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Buchen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324612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Leistung online auswählen.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 und Ort angeben.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Passenden Engel finden.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91840" y="2651760"/>
            <a:ext cx="246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963C"/>
                </a:solidFill>
              </a:rPr>
              <a:t>▶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538728" y="1554480"/>
            <a:ext cx="2560320" cy="2926080"/>
          </a:xfrm>
          <a:prstGeom prst="rect">
            <a:avLst/>
          </a:prstGeom>
          <a:solidFill>
            <a:srgbClr val="1E1A16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61688" y="1783080"/>
            <a:ext cx="914400" cy="914400"/>
          </a:xfrm>
          <a:prstGeom prst="ellipse">
            <a:avLst/>
          </a:prstGeom>
          <a:solidFill>
            <a:srgbClr val="5B8A72"/>
          </a:solidFill>
          <a:ln/>
        </p:spPr>
      </p:sp>
      <p:sp>
        <p:nvSpPr>
          <p:cNvPr id="12" name="Text 10"/>
          <p:cNvSpPr/>
          <p:nvPr/>
        </p:nvSpPr>
        <p:spPr>
          <a:xfrm>
            <a:off x="4361688" y="17830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3721608" y="28346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Engel kommt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721608" y="324612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Verifizierter Alltagsbegleiter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kommt zum vereinbarten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 nach Hause.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99048" y="2651760"/>
            <a:ext cx="246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963C"/>
                </a:solidFill>
              </a:rPr>
              <a:t>▶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345936" y="1554480"/>
            <a:ext cx="2560320" cy="2926080"/>
          </a:xfrm>
          <a:prstGeom prst="rect">
            <a:avLst/>
          </a:prstGeom>
          <a:solidFill>
            <a:srgbClr val="1E1A16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168896" y="1783080"/>
            <a:ext cx="914400" cy="914400"/>
          </a:xfrm>
          <a:prstGeom prst="ellipse">
            <a:avLst/>
          </a:prstGeom>
          <a:solidFill>
            <a:srgbClr val="4A7A8B"/>
          </a:solidFill>
          <a:ln/>
        </p:spPr>
      </p:sp>
      <p:sp>
        <p:nvSpPr>
          <p:cNvPr id="18" name="Text 16"/>
          <p:cNvSpPr/>
          <p:nvPr/>
        </p:nvSpPr>
        <p:spPr>
          <a:xfrm>
            <a:off x="7168896" y="17830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6528816" y="28346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Kasse zahlt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528816" y="324612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Automatische Abrechnung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 die Pflegekasse.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Aufwand für Sie.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99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TRAKTION &amp; STATUS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640080"/>
          </a:xfrm>
          <a:prstGeom prst="rect">
            <a:avLst/>
          </a:prstGeom>
          <a:solidFill>
            <a:srgbClr val="1E1A16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188720"/>
            <a:ext cx="73152" cy="640080"/>
          </a:xfrm>
          <a:prstGeom prst="rect">
            <a:avLst/>
          </a:prstGeom>
          <a:solidFill>
            <a:srgbClr val="5B8A72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12344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MVP Live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51560" y="150876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Plattform online mit Buchungsfunktion und Engel-Profilen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965960"/>
            <a:ext cx="7680960" cy="640080"/>
          </a:xfrm>
          <a:prstGeom prst="rect">
            <a:avLst/>
          </a:prstGeom>
          <a:solidFill>
            <a:srgbClr val="1E1A16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965960"/>
            <a:ext cx="73152" cy="640080"/>
          </a:xfrm>
          <a:prstGeom prst="rect">
            <a:avLst/>
          </a:prstGeom>
          <a:solidFill>
            <a:srgbClr val="5B8A72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20116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SEO-Strategie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51560" y="228600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Fachartikel deployed, organischer Traffic wächst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2743200"/>
            <a:ext cx="7680960" cy="640080"/>
          </a:xfrm>
          <a:prstGeom prst="rect">
            <a:avLst/>
          </a:prstGeom>
          <a:solidFill>
            <a:srgbClr val="1E1A16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2743200"/>
            <a:ext cx="73152" cy="640080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27889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Rhein-Main Fokus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51560" y="306324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Gezielte Marktbearbeitung in Frankfurt und Umgebung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3520440"/>
            <a:ext cx="7680960" cy="640080"/>
          </a:xfrm>
          <a:prstGeom prst="rect">
            <a:avLst/>
          </a:prstGeom>
          <a:solidFill>
            <a:srgbClr val="1E1A16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3520440"/>
            <a:ext cx="73152" cy="640080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35661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PROCARE Kooperation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51560" y="384048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Partnerschaft mit etabliertem Pflegedienstleister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4343400"/>
            <a:ext cx="3657600" cy="502920"/>
          </a:xfrm>
          <a:prstGeom prst="rect">
            <a:avLst/>
          </a:prstGeom>
          <a:solidFill>
            <a:srgbClr val="1E1A16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14400" y="43434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9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§45b SGB XI: </a:t>
            </a:r>
            <a:pPr algn="l" indent="0" marL="0">
              <a:buNone/>
            </a:pPr>
            <a:r>
              <a:rPr lang="en-US" sz="12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Regulatorische Grundlage gesichert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0" y="4343400"/>
            <a:ext cx="3657600" cy="502920"/>
          </a:xfrm>
          <a:prstGeom prst="rect">
            <a:avLst/>
          </a:prstGeom>
          <a:solidFill>
            <a:srgbClr val="1E1A16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937760" y="43434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9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+4,7% YoY: </a:t>
            </a:r>
            <a:pPr algn="l" indent="0" marL="0">
              <a:buNone/>
            </a:pPr>
            <a:r>
              <a:rPr lang="en-US" sz="12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Wachsender ambulanter Markt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99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WETTBEWERBSVORTEIL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43000"/>
            <a:ext cx="7680960" cy="457200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430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Kriterium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474720" y="11430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Traditionell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0" y="11430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Alltagsengel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7680960" cy="411480"/>
          </a:xfrm>
          <a:prstGeom prst="rect">
            <a:avLst/>
          </a:prstGeom>
          <a:solidFill>
            <a:srgbClr val="1E1A1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6459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Buchung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74720" y="16459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 / Fax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0" y="16459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in 2 Min.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2057400"/>
            <a:ext cx="7680960" cy="41148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0574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Transparenz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74720" y="20574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Bewertungen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0" y="20574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&amp; Reviews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2468880"/>
            <a:ext cx="7680960" cy="411480"/>
          </a:xfrm>
          <a:prstGeom prst="rect">
            <a:avLst/>
          </a:prstGeom>
          <a:solidFill>
            <a:srgbClr val="1E1A16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4688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Abrechnung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74720" y="24688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Manuell / Papier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43600" y="24688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Automatisch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2880360"/>
            <a:ext cx="7680960" cy="41148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28803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Verfügbarkeit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74720" y="28803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Bürozeiten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43600" y="28803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Plattform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1520" y="3291840"/>
            <a:ext cx="7680960" cy="411480"/>
          </a:xfrm>
          <a:prstGeom prst="rect">
            <a:avLst/>
          </a:prstGeom>
          <a:solidFill>
            <a:srgbClr val="1E1A16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32918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474720" y="32918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Zufallsprinzip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943600" y="32918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Algorithmus-basiert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31520" y="3703320"/>
            <a:ext cx="7680960" cy="41148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37033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Pflegebox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474720" y="37033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Separater Anbieter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943600" y="37033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Integriert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31520" y="4206240"/>
            <a:ext cx="7680960" cy="594360"/>
          </a:xfrm>
          <a:prstGeom prst="rect">
            <a:avLst/>
          </a:prstGeom>
          <a:solidFill>
            <a:srgbClr val="1E1A16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914400" y="42062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direkter digitaler Wettbewerber im Bereich Alltagsbegleitung — Verbund Pflegehilfe vermittelt nur Pflegedienste, nicht Alltagsbegleiter.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99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SOZIALES ENGAGEMENT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371600" y="1280160"/>
            <a:ext cx="6400800" cy="2926080"/>
          </a:xfrm>
          <a:prstGeom prst="rect">
            <a:avLst/>
          </a:prstGeom>
          <a:solidFill>
            <a:srgbClr val="1E1A16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371600" y="1280160"/>
            <a:ext cx="6400800" cy="54864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155448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C99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1€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828800" y="2606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 Buchung für Kinder- und Familienhilfe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474720" y="3200400"/>
            <a:ext cx="2194560" cy="36576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0" y="338328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Soziale Verantwortung ist kein Add-on — sie ist Teil unseres Geschäftsmodells.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 Buchung unterstützt automatisch Kinder und Familien in Not.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99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188720" y="1417320"/>
            <a:ext cx="6766560" cy="36576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4" name="Shape 2"/>
          <p:cNvSpPr/>
          <p:nvPr/>
        </p:nvSpPr>
        <p:spPr>
          <a:xfrm>
            <a:off x="1463040" y="1261872"/>
            <a:ext cx="320040" cy="320040"/>
          </a:xfrm>
          <a:prstGeom prst="ellipse">
            <a:avLst/>
          </a:prstGeom>
          <a:solidFill>
            <a:srgbClr val="C9963C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828800"/>
            <a:ext cx="1828800" cy="2560320"/>
          </a:xfrm>
          <a:prstGeom prst="rect">
            <a:avLst/>
          </a:prstGeom>
          <a:solidFill>
            <a:srgbClr val="1E1A16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920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Launch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Rhein-Main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188720" y="2880360"/>
            <a:ext cx="914400" cy="27432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017520"/>
            <a:ext cx="1645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 in Frankfurt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Erste Engel onboarden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Kunden akquirieren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0" y="1261872"/>
            <a:ext cx="320040" cy="320040"/>
          </a:xfrm>
          <a:prstGeom prst="ellipse">
            <a:avLst/>
          </a:prstGeom>
          <a:solidFill>
            <a:srgbClr val="5B8A72"/>
          </a:solidFill>
          <a:ln/>
        </p:spPr>
      </p:sp>
      <p:sp>
        <p:nvSpPr>
          <p:cNvPr id="11" name="Shape 9"/>
          <p:cNvSpPr/>
          <p:nvPr/>
        </p:nvSpPr>
        <p:spPr>
          <a:xfrm>
            <a:off x="2743200" y="1828800"/>
            <a:ext cx="1828800" cy="2560320"/>
          </a:xfrm>
          <a:prstGeom prst="rect">
            <a:avLst/>
          </a:prstGeom>
          <a:solidFill>
            <a:srgbClr val="1E1A16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743200" y="1920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834640" y="22860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Pflegebox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200400" y="2880360"/>
            <a:ext cx="914400" cy="27432"/>
          </a:xfrm>
          <a:prstGeom prst="rect">
            <a:avLst/>
          </a:prstGeom>
          <a:solidFill>
            <a:srgbClr val="5B8A72"/>
          </a:solidFill>
          <a:ln/>
        </p:spPr>
      </p:sp>
      <p:sp>
        <p:nvSpPr>
          <p:cNvPr id="15" name="Text 13"/>
          <p:cNvSpPr/>
          <p:nvPr/>
        </p:nvSpPr>
        <p:spPr>
          <a:xfrm>
            <a:off x="2834640" y="3017520"/>
            <a:ext cx="1645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Pflegebox-Abo starten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§40 SGB XI Integration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Logistik-Partner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0" y="1261872"/>
            <a:ext cx="320040" cy="320040"/>
          </a:xfrm>
          <a:prstGeom prst="ellipse">
            <a:avLst/>
          </a:prstGeom>
          <a:solidFill>
            <a:srgbClr val="4A7A8B"/>
          </a:solidFill>
          <a:ln/>
        </p:spPr>
      </p:sp>
      <p:sp>
        <p:nvSpPr>
          <p:cNvPr id="17" name="Shape 15"/>
          <p:cNvSpPr/>
          <p:nvPr/>
        </p:nvSpPr>
        <p:spPr>
          <a:xfrm>
            <a:off x="4754880" y="1828800"/>
            <a:ext cx="1828800" cy="2560320"/>
          </a:xfrm>
          <a:prstGeom prst="rect">
            <a:avLst/>
          </a:prstGeom>
          <a:solidFill>
            <a:srgbClr val="1E1A16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1920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7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2027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22860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Kranken-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fahrten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212080" y="2880360"/>
            <a:ext cx="914400" cy="27432"/>
          </a:xfrm>
          <a:prstGeom prst="rect">
            <a:avLst/>
          </a:prstGeom>
          <a:solidFill>
            <a:srgbClr val="4A7A8B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3017520"/>
            <a:ext cx="1645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§60 SGB V Fahrten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Partner-Netzwerk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App-Integration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498080" y="1261872"/>
            <a:ext cx="320040" cy="320040"/>
          </a:xfrm>
          <a:prstGeom prst="ellipse">
            <a:avLst/>
          </a:prstGeom>
          <a:solidFill>
            <a:srgbClr val="C9963C"/>
          </a:solidFill>
          <a:ln/>
        </p:spPr>
      </p:sp>
      <p:sp>
        <p:nvSpPr>
          <p:cNvPr id="23" name="Shape 21"/>
          <p:cNvSpPr/>
          <p:nvPr/>
        </p:nvSpPr>
        <p:spPr>
          <a:xfrm>
            <a:off x="6766560" y="1828800"/>
            <a:ext cx="1828800" cy="2560320"/>
          </a:xfrm>
          <a:prstGeom prst="rect">
            <a:avLst/>
          </a:prstGeom>
          <a:solidFill>
            <a:srgbClr val="1E1A16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766560" y="1920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Q2–Q4 2027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58000" y="22860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Expansion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223760" y="2880360"/>
            <a:ext cx="914400" cy="27432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0" y="3017520"/>
            <a:ext cx="1645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Weitere Städte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skalieren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A Vorbereitung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99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657600" cy="3474720"/>
          </a:xfrm>
          <a:prstGeom prst="rect">
            <a:avLst/>
          </a:prstGeom>
          <a:solidFill>
            <a:srgbClr val="1E1A16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188720"/>
            <a:ext cx="3657600" cy="54864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C9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100.000–200.000€</a:t>
            </a:r>
            <a:endParaRPr lang="en-US" sz="28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Monate Runway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371600" y="2834640"/>
            <a:ext cx="2377440" cy="27432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30175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9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</a:t>
            </a:r>
            <a:pPr algn="l" indent="0" marL="0">
              <a:buNone/>
            </a:pPr>
            <a:r>
              <a:rPr lang="en-US" sz="12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zum Product-Market-Fit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33832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9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</a:t>
            </a:r>
            <a:pPr algn="l" indent="0" marL="0">
              <a:buNone/>
            </a:pPr>
            <a:r>
              <a:rPr lang="en-US" sz="12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Erste zahlende Kunden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3749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9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</a:t>
            </a:r>
            <a:pPr algn="l" indent="0" marL="0">
              <a:buNone/>
            </a:pPr>
            <a:r>
              <a:rPr lang="en-US" sz="12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Grundlage für Series 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188720"/>
            <a:ext cx="3657600" cy="3474720"/>
          </a:xfrm>
          <a:prstGeom prst="rect">
            <a:avLst/>
          </a:prstGeom>
          <a:solidFill>
            <a:srgbClr val="1E1A16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188720"/>
            <a:ext cx="3657600" cy="54864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C9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FUNDS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0" y="19659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Produktentwicklung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0" y="2258568"/>
            <a:ext cx="2560320" cy="18288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6" name="Shape 14"/>
          <p:cNvSpPr/>
          <p:nvPr/>
        </p:nvSpPr>
        <p:spPr>
          <a:xfrm>
            <a:off x="5029200" y="2258568"/>
            <a:ext cx="2560320" cy="182880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17" name="Text 15"/>
          <p:cNvSpPr/>
          <p:nvPr/>
        </p:nvSpPr>
        <p:spPr>
          <a:xfrm>
            <a:off x="7680960" y="21945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9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0" y="26060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&amp; SEO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29200" y="2898648"/>
            <a:ext cx="2560320" cy="18288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20" name="Shape 18"/>
          <p:cNvSpPr/>
          <p:nvPr/>
        </p:nvSpPr>
        <p:spPr>
          <a:xfrm>
            <a:off x="5029200" y="2898648"/>
            <a:ext cx="1920240" cy="182880"/>
          </a:xfrm>
          <a:prstGeom prst="rect">
            <a:avLst/>
          </a:prstGeom>
          <a:solidFill>
            <a:srgbClr val="5B8A72"/>
          </a:solidFill>
          <a:ln/>
        </p:spPr>
      </p:sp>
      <p:sp>
        <p:nvSpPr>
          <p:cNvPr id="21" name="Text 19"/>
          <p:cNvSpPr/>
          <p:nvPr/>
        </p:nvSpPr>
        <p:spPr>
          <a:xfrm>
            <a:off x="7680960" y="2834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B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29200" y="32461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029200" y="3538728"/>
            <a:ext cx="2560320" cy="18288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24" name="Shape 22"/>
          <p:cNvSpPr/>
          <p:nvPr/>
        </p:nvSpPr>
        <p:spPr>
          <a:xfrm>
            <a:off x="5029200" y="3538728"/>
            <a:ext cx="960120" cy="182880"/>
          </a:xfrm>
          <a:prstGeom prst="rect">
            <a:avLst/>
          </a:prstGeom>
          <a:solidFill>
            <a:srgbClr val="4A7A8B"/>
          </a:solidFill>
          <a:ln/>
        </p:spPr>
      </p:sp>
      <p:sp>
        <p:nvSpPr>
          <p:cNvPr id="25" name="Text 23"/>
          <p:cNvSpPr/>
          <p:nvPr/>
        </p:nvSpPr>
        <p:spPr>
          <a:xfrm>
            <a:off x="7680960" y="34747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4A7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029200" y="3886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029200" y="4178808"/>
            <a:ext cx="2560320" cy="18288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28" name="Shape 26"/>
          <p:cNvSpPr/>
          <p:nvPr/>
        </p:nvSpPr>
        <p:spPr>
          <a:xfrm>
            <a:off x="5029200" y="4178808"/>
            <a:ext cx="960120" cy="182880"/>
          </a:xfrm>
          <a:prstGeom prst="rect">
            <a:avLst/>
          </a:prstGeom>
          <a:solidFill>
            <a:srgbClr val="B8B0A4"/>
          </a:solidFill>
          <a:ln/>
        </p:spPr>
      </p:sp>
      <p:sp>
        <p:nvSpPr>
          <p:cNvPr id="29" name="Text 27"/>
          <p:cNvSpPr/>
          <p:nvPr/>
        </p:nvSpPr>
        <p:spPr>
          <a:xfrm>
            <a:off x="7680960" y="4114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Gemeinsam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Alltag gestalten.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3474720" y="2743200"/>
            <a:ext cx="2194560" cy="36576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0175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spc="600" kern="0" dirty="0">
                <a:solidFill>
                  <a:srgbClr val="C99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ALLTAGSENGEL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34747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www.alltagsengel.com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7490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kontakt@alltagsengel.com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4754880"/>
            <a:ext cx="76809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Pitch Deck — Juni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Alltagsengel Investor Pitch Deck 2026</dc:title>
  <dc:subject>PptxGenJS Presentation</dc:subject>
  <dc:creator>Alltagsengel</dc:creator>
  <cp:lastModifiedBy>Alltagsengel</cp:lastModifiedBy>
  <cp:revision>1</cp:revision>
  <dcterms:created xsi:type="dcterms:W3CDTF">2026-06-05T23:23:14Z</dcterms:created>
  <dcterms:modified xsi:type="dcterms:W3CDTF">2026-06-05T23:23:14Z</dcterms:modified>
</cp:coreProperties>
</file>